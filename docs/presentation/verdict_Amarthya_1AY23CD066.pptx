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2" r:id="rId16"/>
    <p:sldId id="273" r:id="rId17"/>
    <p:sldId id="274" r:id="rId18"/>
    <p:sldId id="271" r:id="rId19"/>
    <p:sldId id="275" r:id="rId20"/>
    <p:sldId id="277" r:id="rId21"/>
    <p:sldId id="278" r:id="rId22"/>
    <p:sldId id="279" r:id="rId23"/>
    <p:sldId id="280" r:id="rId24"/>
    <p:sldId id="281" r:id="rId25"/>
    <p:sldId id="282" r:id="rId26"/>
    <p:sldId id="287" r:id="rId27"/>
    <p:sldId id="283" r:id="rId28"/>
    <p:sldId id="288" r:id="rId29"/>
    <p:sldId id="284" r:id="rId30"/>
    <p:sldId id="285" r:id="rId31"/>
    <p:sldId id="286" r:id="rId3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8CA"/>
          </a:solidFill>
        </a:fill>
      </a:tcStyle>
    </a:wholeTbl>
    <a:band2H>
      <a:tcTxStyle/>
      <a:tcStyle>
        <a:tcBdr/>
        <a:fill>
          <a:solidFill>
            <a:srgbClr val="FAEC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D8CA"/>
          </a:solidFill>
        </a:fill>
      </a:tcStyle>
    </a:wholeTbl>
    <a:band2H>
      <a:tcTxStyle/>
      <a:tcStyle>
        <a:tcBdr/>
        <a:fill>
          <a:solidFill>
            <a:srgbClr val="FAEC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8D0CD"/>
          </a:solidFill>
        </a:fill>
      </a:tcStyle>
    </a:wholeTbl>
    <a:band2H>
      <a:tcTxStyle/>
      <a:tcStyle>
        <a:tcBdr/>
        <a:fill>
          <a:solidFill>
            <a:srgbClr val="EDE9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CDFD9"/>
          </a:solidFill>
        </a:fill>
      </a:tcStyle>
    </a:wholeTbl>
    <a:band2H>
      <a:tcTxStyle/>
      <a:tcStyle>
        <a:tcBdr/>
        <a:fill>
          <a:solidFill>
            <a:srgbClr val="EEF0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1" d="100"/>
          <a:sy n="81" d="100"/>
        </p:scale>
        <p:origin x="64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4" name="Title Text"/>
          <p:cNvSpPr txBox="1">
            <a:spLocks noGrp="1"/>
          </p:cNvSpPr>
          <p:nvPr>
            <p:ph type="title"/>
          </p:nvPr>
        </p:nvSpPr>
        <p:spPr>
          <a:prstGeom prst="rect">
            <a:avLst/>
          </a:prstGeom>
        </p:spPr>
        <p:txBody>
          <a:bodyPr/>
          <a:lstStyle/>
          <a:p>
            <a:r>
              <a:t>Title Text</a:t>
            </a:r>
          </a:p>
        </p:txBody>
      </p:sp>
      <p:sp>
        <p:nvSpPr>
          <p:cNvPr id="15"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3" name="Rectangle 6"/>
          <p:cNvSpPr/>
          <p:nvPr/>
        </p:nvSpPr>
        <p:spPr>
          <a:xfrm>
            <a:off x="0" y="6400800"/>
            <a:ext cx="12192003"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24" name="Rectangle 8"/>
          <p:cNvSpPr/>
          <p:nvPr/>
        </p:nvSpPr>
        <p:spPr>
          <a:xfrm>
            <a:off x="-2" y="6334316"/>
            <a:ext cx="12192005" cy="66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25" name="Straight Connector 9"/>
          <p:cNvSpPr/>
          <p:nvPr/>
        </p:nvSpPr>
        <p:spPr>
          <a:xfrm>
            <a:off x="1193532" y="1737845"/>
            <a:ext cx="9966960" cy="1"/>
          </a:xfrm>
          <a:prstGeom prst="line">
            <a:avLst/>
          </a:prstGeom>
          <a:ln w="6350">
            <a:solidFill>
              <a:srgbClr val="808080"/>
            </a:solidFill>
          </a:ln>
        </p:spPr>
        <p:txBody>
          <a:bodyPr lIns="45718" tIns="45718" rIns="45718" bIns="45718"/>
          <a:lstStyle/>
          <a:p>
            <a:endParaRPr/>
          </a:p>
        </p:txBody>
      </p:sp>
      <p:sp>
        <p:nvSpPr>
          <p:cNvPr id="26" name="Title Text"/>
          <p:cNvSpPr txBox="1">
            <a:spLocks noGrp="1"/>
          </p:cNvSpPr>
          <p:nvPr>
            <p:ph type="title"/>
          </p:nvPr>
        </p:nvSpPr>
        <p:spPr>
          <a:xfrm>
            <a:off x="1097280" y="286603"/>
            <a:ext cx="10058401" cy="1450757"/>
          </a:xfrm>
          <a:prstGeom prst="rect">
            <a:avLst/>
          </a:prstGeom>
        </p:spPr>
        <p:txBody>
          <a:bodyPr/>
          <a:lstStyle>
            <a:lvl1pPr>
              <a:defRPr sz="4800">
                <a:solidFill>
                  <a:srgbClr val="404040"/>
                </a:solidFill>
              </a:defRPr>
            </a:lvl1pPr>
          </a:lstStyle>
          <a:p>
            <a:r>
              <a:t>Title Text</a:t>
            </a:r>
          </a:p>
        </p:txBody>
      </p:sp>
      <p:sp>
        <p:nvSpPr>
          <p:cNvPr id="27" name="Body Level One…"/>
          <p:cNvSpPr txBox="1">
            <a:spLocks noGrp="1"/>
          </p:cNvSpPr>
          <p:nvPr>
            <p:ph type="body" idx="1"/>
          </p:nvPr>
        </p:nvSpPr>
        <p:spPr>
          <a:xfrm>
            <a:off x="1097280" y="1845734"/>
            <a:ext cx="10058401" cy="4023360"/>
          </a:xfrm>
          <a:prstGeom prst="rect">
            <a:avLst/>
          </a:prstGeom>
        </p:spPr>
        <p:txBody>
          <a:bodyPr lIns="0" tIns="0" rIns="0" bIns="0"/>
          <a:lstStyle>
            <a:lvl1pPr marL="91438" indent="-91438">
              <a:buClr>
                <a:schemeClr val="accent1"/>
              </a:buClr>
              <a:buSzPct val="100000"/>
              <a:buFont typeface="Calibri"/>
              <a:buChar char=" "/>
              <a:defRPr sz="2000" cap="none" spc="0">
                <a:solidFill>
                  <a:srgbClr val="404040"/>
                </a:solidFill>
                <a:latin typeface="+mn-lt"/>
                <a:ea typeface="+mn-ea"/>
                <a:cs typeface="+mn-cs"/>
                <a:sym typeface="Calibri"/>
              </a:defRPr>
            </a:lvl1pPr>
            <a:lvl2pPr marL="404368" indent="-203200">
              <a:buClr>
                <a:schemeClr val="accent1"/>
              </a:buClr>
              <a:buSzPct val="100000"/>
              <a:buFont typeface="Calibri"/>
              <a:buChar char="◦"/>
              <a:defRPr sz="2000" cap="none" spc="0">
                <a:solidFill>
                  <a:srgbClr val="404040"/>
                </a:solidFill>
                <a:latin typeface="+mn-lt"/>
                <a:ea typeface="+mn-ea"/>
                <a:cs typeface="+mn-cs"/>
                <a:sym typeface="Calibri"/>
              </a:defRPr>
            </a:lvl2pPr>
            <a:lvl3pPr marL="645304" indent="-261256">
              <a:buClr>
                <a:schemeClr val="accent1"/>
              </a:buClr>
              <a:buSzPct val="100000"/>
              <a:buFont typeface="Calibri"/>
              <a:buChar char="◦"/>
              <a:defRPr sz="2000" cap="none" spc="0">
                <a:solidFill>
                  <a:srgbClr val="404040"/>
                </a:solidFill>
                <a:latin typeface="+mn-lt"/>
                <a:ea typeface="+mn-ea"/>
                <a:cs typeface="+mn-cs"/>
                <a:sym typeface="Calibri"/>
              </a:defRPr>
            </a:lvl3pPr>
            <a:lvl4pPr marL="828185" indent="-261257">
              <a:buClr>
                <a:schemeClr val="accent1"/>
              </a:buClr>
              <a:buSzPct val="100000"/>
              <a:buFont typeface="Calibri"/>
              <a:buChar char="◦"/>
              <a:defRPr sz="2000" cap="none" spc="0">
                <a:solidFill>
                  <a:srgbClr val="404040"/>
                </a:solidFill>
                <a:latin typeface="+mn-lt"/>
                <a:ea typeface="+mn-ea"/>
                <a:cs typeface="+mn-cs"/>
                <a:sym typeface="Calibri"/>
              </a:defRPr>
            </a:lvl4pPr>
            <a:lvl5pPr marL="1011065" indent="-261257">
              <a:buClr>
                <a:schemeClr val="accent1"/>
              </a:buClr>
              <a:buSzPct val="100000"/>
              <a:buFont typeface="Calibri"/>
              <a:buChar char="◦"/>
              <a:defRPr sz="2000" cap="none" spc="0">
                <a:solidFill>
                  <a:srgbClr val="404040"/>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sz="quarter" idx="1"/>
          </p:nvPr>
        </p:nvSpPr>
        <p:spPr>
          <a:xfrm>
            <a:off x="1097280" y="4453128"/>
            <a:ext cx="10058401" cy="1143002"/>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4" name="Rectangle 6"/>
          <p:cNvSpPr/>
          <p:nvPr/>
        </p:nvSpPr>
        <p:spPr>
          <a:xfrm>
            <a:off x="0" y="6400800"/>
            <a:ext cx="12192003"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45" name="Rectangle 8"/>
          <p:cNvSpPr/>
          <p:nvPr/>
        </p:nvSpPr>
        <p:spPr>
          <a:xfrm>
            <a:off x="-2" y="6334316"/>
            <a:ext cx="12192005" cy="66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46" name="Straight Connector 9"/>
          <p:cNvSpPr/>
          <p:nvPr/>
        </p:nvSpPr>
        <p:spPr>
          <a:xfrm>
            <a:off x="1193532" y="1737845"/>
            <a:ext cx="9966960" cy="1"/>
          </a:xfrm>
          <a:prstGeom prst="line">
            <a:avLst/>
          </a:prstGeom>
          <a:ln w="6350">
            <a:solidFill>
              <a:srgbClr val="808080"/>
            </a:solidFill>
          </a:ln>
        </p:spPr>
        <p:txBody>
          <a:bodyPr lIns="45718" tIns="45718" rIns="45718" bIns="45718"/>
          <a:lstStyle/>
          <a:p>
            <a:endParaRPr/>
          </a:p>
        </p:txBody>
      </p:sp>
      <p:sp>
        <p:nvSpPr>
          <p:cNvPr id="47" name="Title Text"/>
          <p:cNvSpPr txBox="1">
            <a:spLocks noGrp="1"/>
          </p:cNvSpPr>
          <p:nvPr>
            <p:ph type="title"/>
          </p:nvPr>
        </p:nvSpPr>
        <p:spPr>
          <a:xfrm>
            <a:off x="1097280" y="286603"/>
            <a:ext cx="10058401" cy="1450757"/>
          </a:xfrm>
          <a:prstGeom prst="rect">
            <a:avLst/>
          </a:prstGeom>
        </p:spPr>
        <p:txBody>
          <a:bodyPr/>
          <a:lstStyle>
            <a:lvl1pPr>
              <a:defRPr sz="4800">
                <a:solidFill>
                  <a:srgbClr val="404040"/>
                </a:solidFill>
              </a:defRPr>
            </a:lvl1pPr>
          </a:lstStyle>
          <a:p>
            <a:r>
              <a:t>Title Text</a:t>
            </a:r>
          </a:p>
        </p:txBody>
      </p:sp>
      <p:sp>
        <p:nvSpPr>
          <p:cNvPr id="48" name="Body Level One…"/>
          <p:cNvSpPr txBox="1">
            <a:spLocks noGrp="1"/>
          </p:cNvSpPr>
          <p:nvPr>
            <p:ph type="body" sz="half" idx="1"/>
          </p:nvPr>
        </p:nvSpPr>
        <p:spPr>
          <a:xfrm>
            <a:off x="1097277" y="1845734"/>
            <a:ext cx="4937762" cy="4023360"/>
          </a:xfrm>
          <a:prstGeom prst="rect">
            <a:avLst/>
          </a:prstGeom>
        </p:spPr>
        <p:txBody>
          <a:bodyPr lIns="0" tIns="0" rIns="0" bIns="0"/>
          <a:lstStyle>
            <a:lvl1pPr marL="91438" indent="-91438">
              <a:buClr>
                <a:schemeClr val="accent1"/>
              </a:buClr>
              <a:buSzPct val="100000"/>
              <a:buFont typeface="Calibri"/>
              <a:buChar char=" "/>
              <a:defRPr sz="2000" cap="none" spc="0">
                <a:solidFill>
                  <a:srgbClr val="404040"/>
                </a:solidFill>
                <a:latin typeface="+mn-lt"/>
                <a:ea typeface="+mn-ea"/>
                <a:cs typeface="+mn-cs"/>
                <a:sym typeface="Calibri"/>
              </a:defRPr>
            </a:lvl1pPr>
            <a:lvl2pPr marL="404368" indent="-203200">
              <a:buClr>
                <a:schemeClr val="accent1"/>
              </a:buClr>
              <a:buSzPct val="100000"/>
              <a:buFont typeface="Calibri"/>
              <a:buChar char="◦"/>
              <a:defRPr sz="2000" cap="none" spc="0">
                <a:solidFill>
                  <a:srgbClr val="404040"/>
                </a:solidFill>
                <a:latin typeface="+mn-lt"/>
                <a:ea typeface="+mn-ea"/>
                <a:cs typeface="+mn-cs"/>
                <a:sym typeface="Calibri"/>
              </a:defRPr>
            </a:lvl2pPr>
            <a:lvl3pPr marL="645304" indent="-261256">
              <a:buClr>
                <a:schemeClr val="accent1"/>
              </a:buClr>
              <a:buSzPct val="100000"/>
              <a:buFont typeface="Calibri"/>
              <a:buChar char="◦"/>
              <a:defRPr sz="2000" cap="none" spc="0">
                <a:solidFill>
                  <a:srgbClr val="404040"/>
                </a:solidFill>
                <a:latin typeface="+mn-lt"/>
                <a:ea typeface="+mn-ea"/>
                <a:cs typeface="+mn-cs"/>
                <a:sym typeface="Calibri"/>
              </a:defRPr>
            </a:lvl3pPr>
            <a:lvl4pPr marL="828185" indent="-261257">
              <a:buClr>
                <a:schemeClr val="accent1"/>
              </a:buClr>
              <a:buSzPct val="100000"/>
              <a:buFont typeface="Calibri"/>
              <a:buChar char="◦"/>
              <a:defRPr sz="2000" cap="none" spc="0">
                <a:solidFill>
                  <a:srgbClr val="404040"/>
                </a:solidFill>
                <a:latin typeface="+mn-lt"/>
                <a:ea typeface="+mn-ea"/>
                <a:cs typeface="+mn-cs"/>
                <a:sym typeface="Calibri"/>
              </a:defRPr>
            </a:lvl4pPr>
            <a:lvl5pPr marL="1011065" indent="-261257">
              <a:buClr>
                <a:schemeClr val="accent1"/>
              </a:buClr>
              <a:buSzPct val="100000"/>
              <a:buFont typeface="Calibri"/>
              <a:buChar char="◦"/>
              <a:defRPr sz="2000" cap="none" spc="0">
                <a:solidFill>
                  <a:srgbClr val="404040"/>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6" name="Rectangle 6"/>
          <p:cNvSpPr/>
          <p:nvPr/>
        </p:nvSpPr>
        <p:spPr>
          <a:xfrm>
            <a:off x="0" y="6400800"/>
            <a:ext cx="12192003"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57" name="Rectangle 8"/>
          <p:cNvSpPr/>
          <p:nvPr/>
        </p:nvSpPr>
        <p:spPr>
          <a:xfrm>
            <a:off x="-2" y="6334316"/>
            <a:ext cx="12192005" cy="66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58" name="Straight Connector 9"/>
          <p:cNvSpPr/>
          <p:nvPr/>
        </p:nvSpPr>
        <p:spPr>
          <a:xfrm>
            <a:off x="1193532" y="1737845"/>
            <a:ext cx="9966960" cy="1"/>
          </a:xfrm>
          <a:prstGeom prst="line">
            <a:avLst/>
          </a:prstGeom>
          <a:ln w="6350">
            <a:solidFill>
              <a:srgbClr val="808080"/>
            </a:solidFill>
          </a:ln>
        </p:spPr>
        <p:txBody>
          <a:bodyPr lIns="45718" tIns="45718" rIns="45718" bIns="45718"/>
          <a:lstStyle/>
          <a:p>
            <a:endParaRPr/>
          </a:p>
        </p:txBody>
      </p:sp>
      <p:sp>
        <p:nvSpPr>
          <p:cNvPr id="59" name="Title Text"/>
          <p:cNvSpPr txBox="1">
            <a:spLocks noGrp="1"/>
          </p:cNvSpPr>
          <p:nvPr>
            <p:ph type="title"/>
          </p:nvPr>
        </p:nvSpPr>
        <p:spPr>
          <a:xfrm>
            <a:off x="1097280" y="286603"/>
            <a:ext cx="10058401" cy="1450757"/>
          </a:xfrm>
          <a:prstGeom prst="rect">
            <a:avLst/>
          </a:prstGeom>
        </p:spPr>
        <p:txBody>
          <a:bodyPr/>
          <a:lstStyle>
            <a:lvl1pPr>
              <a:defRPr sz="4800">
                <a:solidFill>
                  <a:srgbClr val="404040"/>
                </a:solidFill>
              </a:defRPr>
            </a:lvl1pPr>
          </a:lstStyle>
          <a:p>
            <a:r>
              <a:t>Title Text</a:t>
            </a:r>
          </a:p>
        </p:txBody>
      </p:sp>
      <p:sp>
        <p:nvSpPr>
          <p:cNvPr id="60" name="Body Level One…"/>
          <p:cNvSpPr txBox="1">
            <a:spLocks noGrp="1"/>
          </p:cNvSpPr>
          <p:nvPr>
            <p:ph type="body" sz="quarter" idx="1"/>
          </p:nvPr>
        </p:nvSpPr>
        <p:spPr>
          <a:xfrm>
            <a:off x="1097280" y="1846052"/>
            <a:ext cx="4937760" cy="736284"/>
          </a:xfrm>
          <a:prstGeom prst="rect">
            <a:avLst/>
          </a:prstGeom>
        </p:spPr>
        <p:txBody>
          <a:bodyPr anchor="ctr"/>
          <a:lstStyle>
            <a:lvl1pPr>
              <a:defRPr sz="2000" spc="0">
                <a:latin typeface="+mn-lt"/>
                <a:ea typeface="+mn-ea"/>
                <a:cs typeface="+mn-cs"/>
                <a:sym typeface="Calibri"/>
              </a:defRPr>
            </a:lvl1pPr>
            <a:lvl2pPr>
              <a:defRPr sz="2000" spc="0">
                <a:latin typeface="+mn-lt"/>
                <a:ea typeface="+mn-ea"/>
                <a:cs typeface="+mn-cs"/>
                <a:sym typeface="Calibri"/>
              </a:defRPr>
            </a:lvl2pPr>
            <a:lvl3pPr>
              <a:defRPr sz="2000" spc="0">
                <a:latin typeface="+mn-lt"/>
                <a:ea typeface="+mn-ea"/>
                <a:cs typeface="+mn-cs"/>
                <a:sym typeface="Calibri"/>
              </a:defRPr>
            </a:lvl3pPr>
            <a:lvl4pPr>
              <a:defRPr sz="2000" spc="0">
                <a:latin typeface="+mn-lt"/>
                <a:ea typeface="+mn-ea"/>
                <a:cs typeface="+mn-cs"/>
                <a:sym typeface="Calibri"/>
              </a:defRPr>
            </a:lvl4pPr>
            <a:lvl5pPr>
              <a:defRPr sz="2000" spc="0">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61" name="Text Placeholder 4"/>
          <p:cNvSpPr>
            <a:spLocks noGrp="1"/>
          </p:cNvSpPr>
          <p:nvPr>
            <p:ph type="body" sz="quarter" idx="21"/>
          </p:nvPr>
        </p:nvSpPr>
        <p:spPr>
          <a:xfrm>
            <a:off x="6217920" y="1846052"/>
            <a:ext cx="4937762" cy="736284"/>
          </a:xfrm>
          <a:prstGeom prst="rect">
            <a:avLst/>
          </a:prstGeom>
        </p:spPr>
        <p:txBody>
          <a:bodyPr anchor="ctr"/>
          <a:lstStyle/>
          <a:p>
            <a:pPr marL="91438" indent="-91438">
              <a:buClr>
                <a:schemeClr val="accent1"/>
              </a:buClr>
              <a:buSzPct val="100000"/>
              <a:buFont typeface="Calibri"/>
              <a:buChar char=" "/>
              <a:defRPr sz="2000" cap="none" spc="0">
                <a:solidFill>
                  <a:srgbClr val="404040"/>
                </a:solidFill>
                <a:latin typeface="+mn-lt"/>
                <a:ea typeface="+mn-ea"/>
                <a:cs typeface="+mn-cs"/>
                <a:sym typeface="Calibri"/>
              </a:defRPr>
            </a:pPr>
            <a:endParaRPr/>
          </a:p>
        </p:txBody>
      </p:sp>
      <p:sp>
        <p:nvSpPr>
          <p:cNvPr id="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69" name="Rectangle 6"/>
          <p:cNvSpPr/>
          <p:nvPr/>
        </p:nvSpPr>
        <p:spPr>
          <a:xfrm>
            <a:off x="0" y="6400800"/>
            <a:ext cx="12192003"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70" name="Rectangle 8"/>
          <p:cNvSpPr/>
          <p:nvPr/>
        </p:nvSpPr>
        <p:spPr>
          <a:xfrm>
            <a:off x="-2" y="6334316"/>
            <a:ext cx="12192005" cy="66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71" name="Straight Connector 9"/>
          <p:cNvSpPr/>
          <p:nvPr/>
        </p:nvSpPr>
        <p:spPr>
          <a:xfrm>
            <a:off x="1193532" y="1737845"/>
            <a:ext cx="9966960" cy="1"/>
          </a:xfrm>
          <a:prstGeom prst="line">
            <a:avLst/>
          </a:prstGeom>
          <a:ln w="6350">
            <a:solidFill>
              <a:srgbClr val="808080"/>
            </a:solidFill>
          </a:ln>
        </p:spPr>
        <p:txBody>
          <a:bodyPr lIns="45718" tIns="45718" rIns="45718" bIns="45718"/>
          <a:lstStyle/>
          <a:p>
            <a:endParaRPr/>
          </a:p>
        </p:txBody>
      </p:sp>
      <p:sp>
        <p:nvSpPr>
          <p:cNvPr id="72" name="Title Text"/>
          <p:cNvSpPr txBox="1">
            <a:spLocks noGrp="1"/>
          </p:cNvSpPr>
          <p:nvPr>
            <p:ph type="title"/>
          </p:nvPr>
        </p:nvSpPr>
        <p:spPr>
          <a:xfrm>
            <a:off x="1097280" y="286603"/>
            <a:ext cx="10058401" cy="1450757"/>
          </a:xfrm>
          <a:prstGeom prst="rect">
            <a:avLst/>
          </a:prstGeom>
        </p:spPr>
        <p:txBody>
          <a:bodyPr/>
          <a:lstStyle>
            <a:lvl1pPr>
              <a:defRPr sz="4800">
                <a:solidFill>
                  <a:srgbClr val="404040"/>
                </a:solidFill>
              </a:defRPr>
            </a:lvl1pPr>
          </a:lstStyle>
          <a:p>
            <a:r>
              <a:t>Title Text</a:t>
            </a:r>
          </a:p>
        </p:txBody>
      </p:sp>
      <p:sp>
        <p:nvSpPr>
          <p:cNvPr id="7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80" name="Rectangle 4"/>
          <p:cNvSpPr/>
          <p:nvPr/>
        </p:nvSpPr>
        <p:spPr>
          <a:xfrm>
            <a:off x="3175" y="6400800"/>
            <a:ext cx="12188825"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81" name="Rectangle 5"/>
          <p:cNvSpPr/>
          <p:nvPr/>
        </p:nvSpPr>
        <p:spPr>
          <a:xfrm>
            <a:off x="13" y="6334316"/>
            <a:ext cx="12188828" cy="6401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89" name="Rectangle 7"/>
          <p:cNvSpPr/>
          <p:nvPr/>
        </p:nvSpPr>
        <p:spPr>
          <a:xfrm>
            <a:off x="14" y="0"/>
            <a:ext cx="4050795" cy="68580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90" name="Rectangle 8"/>
          <p:cNvSpPr/>
          <p:nvPr/>
        </p:nvSpPr>
        <p:spPr>
          <a:xfrm>
            <a:off x="4040070" y="0"/>
            <a:ext cx="64010" cy="6858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91" name="Title Text"/>
          <p:cNvSpPr txBox="1">
            <a:spLocks noGrp="1"/>
          </p:cNvSpPr>
          <p:nvPr>
            <p:ph type="title"/>
          </p:nvPr>
        </p:nvSpPr>
        <p:spPr>
          <a:xfrm>
            <a:off x="457200" y="594359"/>
            <a:ext cx="3200400" cy="2286001"/>
          </a:xfrm>
          <a:prstGeom prst="rect">
            <a:avLst/>
          </a:prstGeom>
        </p:spPr>
        <p:txBody>
          <a:bodyPr/>
          <a:lstStyle>
            <a:lvl1pPr>
              <a:defRPr sz="3600">
                <a:solidFill>
                  <a:srgbClr val="FFFFFF"/>
                </a:solidFill>
              </a:defRPr>
            </a:lvl1pPr>
          </a:lstStyle>
          <a:p>
            <a:r>
              <a:t>Title Text</a:t>
            </a:r>
          </a:p>
        </p:txBody>
      </p:sp>
      <p:sp>
        <p:nvSpPr>
          <p:cNvPr id="92" name="Body Level One…"/>
          <p:cNvSpPr txBox="1">
            <a:spLocks noGrp="1"/>
          </p:cNvSpPr>
          <p:nvPr>
            <p:ph type="body" idx="1"/>
          </p:nvPr>
        </p:nvSpPr>
        <p:spPr>
          <a:xfrm>
            <a:off x="4800600" y="731519"/>
            <a:ext cx="6492241" cy="5257802"/>
          </a:xfrm>
          <a:prstGeom prst="rect">
            <a:avLst/>
          </a:prstGeom>
        </p:spPr>
        <p:txBody>
          <a:bodyPr lIns="0" tIns="0" rIns="0" bIns="0"/>
          <a:lstStyle>
            <a:lvl1pPr marL="91438" indent="-91438">
              <a:buClr>
                <a:schemeClr val="accent1"/>
              </a:buClr>
              <a:buSzPct val="100000"/>
              <a:buFont typeface="Calibri"/>
              <a:buChar char=" "/>
              <a:defRPr sz="2000" cap="none" spc="0">
                <a:solidFill>
                  <a:srgbClr val="404040"/>
                </a:solidFill>
                <a:latin typeface="+mn-lt"/>
                <a:ea typeface="+mn-ea"/>
                <a:cs typeface="+mn-cs"/>
                <a:sym typeface="Calibri"/>
              </a:defRPr>
            </a:lvl1pPr>
            <a:lvl2pPr marL="404368" indent="-203200">
              <a:buClr>
                <a:schemeClr val="accent1"/>
              </a:buClr>
              <a:buSzPct val="100000"/>
              <a:buFont typeface="Calibri"/>
              <a:buChar char="◦"/>
              <a:defRPr sz="2000" cap="none" spc="0">
                <a:solidFill>
                  <a:srgbClr val="404040"/>
                </a:solidFill>
                <a:latin typeface="+mn-lt"/>
                <a:ea typeface="+mn-ea"/>
                <a:cs typeface="+mn-cs"/>
                <a:sym typeface="Calibri"/>
              </a:defRPr>
            </a:lvl2pPr>
            <a:lvl3pPr marL="645304" indent="-261256">
              <a:buClr>
                <a:schemeClr val="accent1"/>
              </a:buClr>
              <a:buSzPct val="100000"/>
              <a:buFont typeface="Calibri"/>
              <a:buChar char="◦"/>
              <a:defRPr sz="2000" cap="none" spc="0">
                <a:solidFill>
                  <a:srgbClr val="404040"/>
                </a:solidFill>
                <a:latin typeface="+mn-lt"/>
                <a:ea typeface="+mn-ea"/>
                <a:cs typeface="+mn-cs"/>
                <a:sym typeface="Calibri"/>
              </a:defRPr>
            </a:lvl3pPr>
            <a:lvl4pPr marL="828185" indent="-261257">
              <a:buClr>
                <a:schemeClr val="accent1"/>
              </a:buClr>
              <a:buSzPct val="100000"/>
              <a:buFont typeface="Calibri"/>
              <a:buChar char="◦"/>
              <a:defRPr sz="2000" cap="none" spc="0">
                <a:solidFill>
                  <a:srgbClr val="404040"/>
                </a:solidFill>
                <a:latin typeface="+mn-lt"/>
                <a:ea typeface="+mn-ea"/>
                <a:cs typeface="+mn-cs"/>
                <a:sym typeface="Calibri"/>
              </a:defRPr>
            </a:lvl4pPr>
            <a:lvl5pPr marL="1011065" indent="-261257">
              <a:buClr>
                <a:schemeClr val="accent1"/>
              </a:buClr>
              <a:buSzPct val="100000"/>
              <a:buFont typeface="Calibri"/>
              <a:buChar char="◦"/>
              <a:defRPr sz="2000" cap="none" spc="0">
                <a:solidFill>
                  <a:srgbClr val="404040"/>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93" name="Text Placeholder 3"/>
          <p:cNvSpPr>
            <a:spLocks noGrp="1"/>
          </p:cNvSpPr>
          <p:nvPr>
            <p:ph type="body" sz="quarter" idx="21"/>
          </p:nvPr>
        </p:nvSpPr>
        <p:spPr>
          <a:xfrm>
            <a:off x="457200" y="2926079"/>
            <a:ext cx="3200400" cy="3379125"/>
          </a:xfrm>
          <a:prstGeom prst="rect">
            <a:avLst/>
          </a:prstGeom>
        </p:spPr>
        <p:txBody>
          <a:bodyPr/>
          <a:lstStyle/>
          <a:p>
            <a:pPr marL="91438" indent="-91438">
              <a:buClr>
                <a:schemeClr val="accent1"/>
              </a:buClr>
              <a:buSzPct val="100000"/>
              <a:buFont typeface="Calibri"/>
              <a:buChar char=" "/>
              <a:defRPr sz="2000" cap="none" spc="0">
                <a:solidFill>
                  <a:srgbClr val="404040"/>
                </a:solidFill>
                <a:latin typeface="+mn-lt"/>
                <a:ea typeface="+mn-ea"/>
                <a:cs typeface="+mn-cs"/>
                <a:sym typeface="Calibri"/>
              </a:defRPr>
            </a:pPr>
            <a:endParaRPr/>
          </a:p>
        </p:txBody>
      </p:sp>
      <p:sp>
        <p:nvSpPr>
          <p:cNvPr id="94" name="Slide Number"/>
          <p:cNvSpPr txBox="1">
            <a:spLocks noGrp="1"/>
          </p:cNvSpPr>
          <p:nvPr>
            <p:ph type="sldNum" sz="quarter" idx="2"/>
          </p:nvPr>
        </p:nvSpPr>
        <p:spPr>
          <a:prstGeom prst="rect">
            <a:avLst/>
          </a:prstGeom>
        </p:spPr>
        <p:txBody>
          <a:bodyPr/>
          <a:lstStyle>
            <a:lvl1pPr>
              <a:defRPr>
                <a:solidFill>
                  <a:srgbClr val="637052"/>
                </a:solidFill>
              </a:defRPr>
            </a:lvl1p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01" name="Rectangle 7"/>
          <p:cNvSpPr/>
          <p:nvPr/>
        </p:nvSpPr>
        <p:spPr>
          <a:xfrm>
            <a:off x="0" y="4953000"/>
            <a:ext cx="12188825" cy="19050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102" name="Rectangle 8"/>
          <p:cNvSpPr/>
          <p:nvPr/>
        </p:nvSpPr>
        <p:spPr>
          <a:xfrm>
            <a:off x="13" y="4915075"/>
            <a:ext cx="12188828" cy="6401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103" name="Title Text"/>
          <p:cNvSpPr txBox="1">
            <a:spLocks noGrp="1"/>
          </p:cNvSpPr>
          <p:nvPr>
            <p:ph type="title"/>
          </p:nvPr>
        </p:nvSpPr>
        <p:spPr>
          <a:xfrm>
            <a:off x="1097280" y="5074920"/>
            <a:ext cx="10113265" cy="822962"/>
          </a:xfrm>
          <a:prstGeom prst="rect">
            <a:avLst/>
          </a:prstGeom>
        </p:spPr>
        <p:txBody>
          <a:bodyPr lIns="0" tIns="0" rIns="0" bIns="0"/>
          <a:lstStyle>
            <a:lvl1pPr>
              <a:defRPr sz="3600">
                <a:solidFill>
                  <a:srgbClr val="FFFFFF"/>
                </a:solidFill>
              </a:defRPr>
            </a:lvl1pPr>
          </a:lstStyle>
          <a:p>
            <a:r>
              <a:t>Title Text</a:t>
            </a:r>
          </a:p>
        </p:txBody>
      </p:sp>
      <p:sp>
        <p:nvSpPr>
          <p:cNvPr id="104" name="Picture Placeholder 2"/>
          <p:cNvSpPr>
            <a:spLocks noGrp="1"/>
          </p:cNvSpPr>
          <p:nvPr>
            <p:ph type="pic" idx="21"/>
          </p:nvPr>
        </p:nvSpPr>
        <p:spPr>
          <a:xfrm>
            <a:off x="13" y="0"/>
            <a:ext cx="12191988" cy="4915076"/>
          </a:xfrm>
          <a:prstGeom prst="rect">
            <a:avLst/>
          </a:prstGeom>
        </p:spPr>
        <p:txBody>
          <a:bodyPr lIns="91439" tIns="45719" rIns="91439" bIns="45719">
            <a:noAutofit/>
          </a:bodyPr>
          <a:lstStyle/>
          <a:p>
            <a:endParaRPr/>
          </a:p>
        </p:txBody>
      </p:sp>
      <p:sp>
        <p:nvSpPr>
          <p:cNvPr id="105" name="Body Level One…"/>
          <p:cNvSpPr txBox="1">
            <a:spLocks noGrp="1"/>
          </p:cNvSpPr>
          <p:nvPr>
            <p:ph type="body" sz="quarter" idx="1"/>
          </p:nvPr>
        </p:nvSpPr>
        <p:spPr>
          <a:xfrm>
            <a:off x="1097280" y="5907023"/>
            <a:ext cx="10113265" cy="594362"/>
          </a:xfrm>
          <a:prstGeom prst="rect">
            <a:avLst/>
          </a:prstGeom>
        </p:spPr>
        <p:txBody>
          <a:bodyPr lIns="0" tIns="0" rIns="0" bIns="0"/>
          <a:lstStyle>
            <a:lvl1pPr>
              <a:spcBef>
                <a:spcPts val="600"/>
              </a:spcBef>
              <a:defRPr sz="1500" cap="none" spc="0">
                <a:solidFill>
                  <a:srgbClr val="FFFFFF"/>
                </a:solidFill>
                <a:latin typeface="+mn-lt"/>
                <a:ea typeface="+mn-ea"/>
                <a:cs typeface="+mn-cs"/>
                <a:sym typeface="Calibri"/>
              </a:defRPr>
            </a:lvl1pPr>
            <a:lvl2pPr>
              <a:spcBef>
                <a:spcPts val="600"/>
              </a:spcBef>
              <a:defRPr sz="1500" cap="none" spc="0">
                <a:solidFill>
                  <a:srgbClr val="FFFFFF"/>
                </a:solidFill>
                <a:latin typeface="+mn-lt"/>
                <a:ea typeface="+mn-ea"/>
                <a:cs typeface="+mn-cs"/>
                <a:sym typeface="Calibri"/>
              </a:defRPr>
            </a:lvl2pPr>
            <a:lvl3pPr>
              <a:spcBef>
                <a:spcPts val="600"/>
              </a:spcBef>
              <a:defRPr sz="1500" cap="none" spc="0">
                <a:solidFill>
                  <a:srgbClr val="FFFFFF"/>
                </a:solidFill>
                <a:latin typeface="+mn-lt"/>
                <a:ea typeface="+mn-ea"/>
                <a:cs typeface="+mn-cs"/>
                <a:sym typeface="Calibri"/>
              </a:defRPr>
            </a:lvl3pPr>
            <a:lvl4pPr>
              <a:spcBef>
                <a:spcPts val="600"/>
              </a:spcBef>
              <a:defRPr sz="1500" cap="none" spc="0">
                <a:solidFill>
                  <a:srgbClr val="FFFFFF"/>
                </a:solidFill>
                <a:latin typeface="+mn-lt"/>
                <a:ea typeface="+mn-ea"/>
                <a:cs typeface="+mn-cs"/>
                <a:sym typeface="Calibri"/>
              </a:defRPr>
            </a:lvl4pPr>
            <a:lvl5pPr>
              <a:spcBef>
                <a:spcPts val="600"/>
              </a:spcBef>
              <a:defRPr sz="1500" cap="none" spc="0">
                <a:solidFill>
                  <a:srgbClr val="FFFFFF"/>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113" name="Rectangle 6"/>
          <p:cNvSpPr/>
          <p:nvPr/>
        </p:nvSpPr>
        <p:spPr>
          <a:xfrm>
            <a:off x="0" y="6400800"/>
            <a:ext cx="12192003"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114" name="Rectangle 8"/>
          <p:cNvSpPr/>
          <p:nvPr/>
        </p:nvSpPr>
        <p:spPr>
          <a:xfrm>
            <a:off x="-2" y="6334316"/>
            <a:ext cx="12192005" cy="6600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115" name="Straight Connector 9"/>
          <p:cNvSpPr/>
          <p:nvPr/>
        </p:nvSpPr>
        <p:spPr>
          <a:xfrm>
            <a:off x="1193532" y="1737845"/>
            <a:ext cx="9966960" cy="1"/>
          </a:xfrm>
          <a:prstGeom prst="line">
            <a:avLst/>
          </a:prstGeom>
          <a:ln w="6350">
            <a:solidFill>
              <a:srgbClr val="808080"/>
            </a:solidFill>
          </a:ln>
        </p:spPr>
        <p:txBody>
          <a:bodyPr lIns="45718" tIns="45718" rIns="45718" bIns="45718"/>
          <a:lstStyle/>
          <a:p>
            <a:endParaRPr/>
          </a:p>
        </p:txBody>
      </p:sp>
      <p:sp>
        <p:nvSpPr>
          <p:cNvPr id="116" name="Title Text"/>
          <p:cNvSpPr txBox="1">
            <a:spLocks noGrp="1"/>
          </p:cNvSpPr>
          <p:nvPr>
            <p:ph type="title"/>
          </p:nvPr>
        </p:nvSpPr>
        <p:spPr>
          <a:xfrm>
            <a:off x="1097280" y="286603"/>
            <a:ext cx="10058401" cy="1450757"/>
          </a:xfrm>
          <a:prstGeom prst="rect">
            <a:avLst/>
          </a:prstGeom>
        </p:spPr>
        <p:txBody>
          <a:bodyPr/>
          <a:lstStyle>
            <a:lvl1pPr>
              <a:defRPr sz="4800">
                <a:solidFill>
                  <a:srgbClr val="404040"/>
                </a:solidFill>
              </a:defRPr>
            </a:lvl1pPr>
          </a:lstStyle>
          <a:p>
            <a:r>
              <a:t>Title Text</a:t>
            </a:r>
          </a:p>
        </p:txBody>
      </p:sp>
      <p:sp>
        <p:nvSpPr>
          <p:cNvPr id="117" name="Body Level One…"/>
          <p:cNvSpPr txBox="1">
            <a:spLocks noGrp="1"/>
          </p:cNvSpPr>
          <p:nvPr>
            <p:ph type="body" idx="1"/>
          </p:nvPr>
        </p:nvSpPr>
        <p:spPr>
          <a:xfrm>
            <a:off x="1097280" y="1845734"/>
            <a:ext cx="10058401" cy="4023360"/>
          </a:xfrm>
          <a:prstGeom prst="rect">
            <a:avLst/>
          </a:prstGeom>
        </p:spPr>
        <p:txBody>
          <a:bodyPr lIns="0" tIns="0" rIns="0" bIns="0"/>
          <a:lstStyle>
            <a:lvl1pPr marL="91438" indent="-91438">
              <a:buClr>
                <a:schemeClr val="accent1"/>
              </a:buClr>
              <a:buSzPct val="100000"/>
              <a:buFont typeface="Calibri"/>
              <a:buChar char=" "/>
              <a:defRPr sz="2000" cap="none" spc="0">
                <a:solidFill>
                  <a:srgbClr val="404040"/>
                </a:solidFill>
                <a:latin typeface="+mn-lt"/>
                <a:ea typeface="+mn-ea"/>
                <a:cs typeface="+mn-cs"/>
                <a:sym typeface="Calibri"/>
              </a:defRPr>
            </a:lvl1pPr>
            <a:lvl2pPr marL="404368" indent="-203200">
              <a:buClr>
                <a:schemeClr val="accent1"/>
              </a:buClr>
              <a:buSzPct val="100000"/>
              <a:buFont typeface="Calibri"/>
              <a:buChar char="◦"/>
              <a:defRPr sz="2000" cap="none" spc="0">
                <a:solidFill>
                  <a:srgbClr val="404040"/>
                </a:solidFill>
                <a:latin typeface="+mn-lt"/>
                <a:ea typeface="+mn-ea"/>
                <a:cs typeface="+mn-cs"/>
                <a:sym typeface="Calibri"/>
              </a:defRPr>
            </a:lvl2pPr>
            <a:lvl3pPr marL="645304" indent="-261256">
              <a:buClr>
                <a:schemeClr val="accent1"/>
              </a:buClr>
              <a:buSzPct val="100000"/>
              <a:buFont typeface="Calibri"/>
              <a:buChar char="◦"/>
              <a:defRPr sz="2000" cap="none" spc="0">
                <a:solidFill>
                  <a:srgbClr val="404040"/>
                </a:solidFill>
                <a:latin typeface="+mn-lt"/>
                <a:ea typeface="+mn-ea"/>
                <a:cs typeface="+mn-cs"/>
                <a:sym typeface="Calibri"/>
              </a:defRPr>
            </a:lvl3pPr>
            <a:lvl4pPr marL="828185" indent="-261257">
              <a:buClr>
                <a:schemeClr val="accent1"/>
              </a:buClr>
              <a:buSzPct val="100000"/>
              <a:buFont typeface="Calibri"/>
              <a:buChar char="◦"/>
              <a:defRPr sz="2000" cap="none" spc="0">
                <a:solidFill>
                  <a:srgbClr val="404040"/>
                </a:solidFill>
                <a:latin typeface="+mn-lt"/>
                <a:ea typeface="+mn-ea"/>
                <a:cs typeface="+mn-cs"/>
                <a:sym typeface="Calibri"/>
              </a:defRPr>
            </a:lvl4pPr>
            <a:lvl5pPr marL="1011065" indent="-261257">
              <a:buClr>
                <a:schemeClr val="accent1"/>
              </a:buClr>
              <a:buSzPct val="100000"/>
              <a:buFont typeface="Calibri"/>
              <a:buChar char="◦"/>
              <a:defRPr sz="2000" cap="none" spc="0">
                <a:solidFill>
                  <a:srgbClr val="404040"/>
                </a:solidFill>
                <a:latin typeface="+mn-lt"/>
                <a:ea typeface="+mn-ea"/>
                <a:cs typeface="+mn-cs"/>
                <a:sym typeface="Calibri"/>
              </a:defRPr>
            </a:lvl5pPr>
          </a:lstStyle>
          <a:p>
            <a:r>
              <a:t>Body Level One</a:t>
            </a:r>
          </a:p>
          <a:p>
            <a:pPr lvl="1"/>
            <a:r>
              <a:t>Body Level Two</a:t>
            </a:r>
          </a:p>
          <a:p>
            <a:pPr lvl="2"/>
            <a:r>
              <a:t>Body Level Three</a:t>
            </a:r>
          </a:p>
          <a:p>
            <a:pPr lvl="3"/>
            <a:r>
              <a:t>Body Level Four</a:t>
            </a:r>
          </a:p>
          <a:p>
            <a:pPr lvl="4"/>
            <a:r>
              <a:t>Body Level Five</a:t>
            </a: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6"/>
          <p:cNvSpPr/>
          <p:nvPr/>
        </p:nvSpPr>
        <p:spPr>
          <a:xfrm>
            <a:off x="3175" y="6400800"/>
            <a:ext cx="12188825" cy="457200"/>
          </a:xfrm>
          <a:prstGeom prst="rect">
            <a:avLst/>
          </a:prstGeom>
          <a:solidFill>
            <a:schemeClr val="accent2"/>
          </a:solidFill>
          <a:ln w="12700">
            <a:miter lim="400000"/>
          </a:ln>
        </p:spPr>
        <p:txBody>
          <a:bodyPr lIns="45718" tIns="45718" rIns="45718" bIns="45718"/>
          <a:lstStyle/>
          <a:p>
            <a:pPr>
              <a:defRPr>
                <a:latin typeface="+mn-lt"/>
                <a:ea typeface="+mn-ea"/>
                <a:cs typeface="+mn-cs"/>
                <a:sym typeface="Calibri"/>
              </a:defRPr>
            </a:pPr>
            <a:endParaRPr/>
          </a:p>
        </p:txBody>
      </p:sp>
      <p:sp>
        <p:nvSpPr>
          <p:cNvPr id="3" name="Rectangle 7"/>
          <p:cNvSpPr/>
          <p:nvPr/>
        </p:nvSpPr>
        <p:spPr>
          <a:xfrm>
            <a:off x="13" y="6334316"/>
            <a:ext cx="12188828" cy="64010"/>
          </a:xfrm>
          <a:prstGeom prst="rect">
            <a:avLst/>
          </a:prstGeom>
          <a:solidFill>
            <a:schemeClr val="accent1"/>
          </a:solidFill>
          <a:ln w="12700">
            <a:miter lim="400000"/>
          </a:ln>
        </p:spPr>
        <p:txBody>
          <a:bodyPr lIns="45718" tIns="45718" rIns="45718" bIns="45718"/>
          <a:lstStyle/>
          <a:p>
            <a:pPr>
              <a:defRPr>
                <a:latin typeface="+mn-lt"/>
                <a:ea typeface="+mn-ea"/>
                <a:cs typeface="+mn-cs"/>
                <a:sym typeface="Calibri"/>
              </a:defRPr>
            </a:pPr>
            <a:endParaRPr/>
          </a:p>
        </p:txBody>
      </p:sp>
      <p:sp>
        <p:nvSpPr>
          <p:cNvPr id="4" name="Title Text"/>
          <p:cNvSpPr txBox="1">
            <a:spLocks noGrp="1"/>
          </p:cNvSpPr>
          <p:nvPr>
            <p:ph type="title"/>
          </p:nvPr>
        </p:nvSpPr>
        <p:spPr>
          <a:xfrm>
            <a:off x="1097280" y="758951"/>
            <a:ext cx="10058401" cy="35661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b">
            <a:normAutofit/>
          </a:bodyPr>
          <a:lstStyle/>
          <a:p>
            <a:r>
              <a:t>Title Text</a:t>
            </a:r>
          </a:p>
        </p:txBody>
      </p:sp>
      <p:sp>
        <p:nvSpPr>
          <p:cNvPr id="5" name="Body Level One…"/>
          <p:cNvSpPr txBox="1">
            <a:spLocks noGrp="1"/>
          </p:cNvSpPr>
          <p:nvPr>
            <p:ph type="body" idx="1"/>
          </p:nvPr>
        </p:nvSpPr>
        <p:spPr>
          <a:xfrm>
            <a:off x="1100050" y="4455619"/>
            <a:ext cx="10058401" cy="11430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ormAutofit/>
          </a:bodyPr>
          <a:lstStyle/>
          <a:p>
            <a:r>
              <a:t>Body Level One</a:t>
            </a:r>
          </a:p>
          <a:p>
            <a:pPr lvl="1"/>
            <a:r>
              <a:t>Body Level Two</a:t>
            </a:r>
          </a:p>
          <a:p>
            <a:pPr lvl="2"/>
            <a:r>
              <a:t>Body Level Three</a:t>
            </a:r>
          </a:p>
          <a:p>
            <a:pPr lvl="3"/>
            <a:r>
              <a:t>Body Level Four</a:t>
            </a:r>
          </a:p>
          <a:p>
            <a:pPr lvl="4"/>
            <a:r>
              <a:t>Body Level Five</a:t>
            </a:r>
          </a:p>
        </p:txBody>
      </p:sp>
      <p:sp>
        <p:nvSpPr>
          <p:cNvPr id="6" name="Straight Connector 8"/>
          <p:cNvSpPr/>
          <p:nvPr/>
        </p:nvSpPr>
        <p:spPr>
          <a:xfrm>
            <a:off x="1207657" y="4343400"/>
            <a:ext cx="9875523" cy="0"/>
          </a:xfrm>
          <a:prstGeom prst="line">
            <a:avLst/>
          </a:prstGeom>
          <a:ln w="6350">
            <a:solidFill>
              <a:srgbClr val="808080"/>
            </a:solidFill>
          </a:ln>
        </p:spPr>
        <p:txBody>
          <a:bodyPr lIns="45718" tIns="45718" rIns="45718" bIns="45718"/>
          <a:lstStyle/>
          <a:p>
            <a:endParaRPr/>
          </a:p>
        </p:txBody>
      </p:sp>
      <p:sp>
        <p:nvSpPr>
          <p:cNvPr id="7" name="Slide Number"/>
          <p:cNvSpPr txBox="1">
            <a:spLocks noGrp="1"/>
          </p:cNvSpPr>
          <p:nvPr>
            <p:ph type="sldNum" sz="quarter" idx="2"/>
          </p:nvPr>
        </p:nvSpPr>
        <p:spPr>
          <a:xfrm>
            <a:off x="10979609" y="6528093"/>
            <a:ext cx="232875" cy="228510"/>
          </a:xfrm>
          <a:prstGeom prst="rect">
            <a:avLst/>
          </a:prstGeom>
          <a:ln w="12700">
            <a:miter lim="400000"/>
          </a:ln>
        </p:spPr>
        <p:txBody>
          <a:bodyPr wrap="none" lIns="45718" tIns="45718" rIns="45718" bIns="45718" anchor="ctr">
            <a:spAutoFit/>
          </a:bodyPr>
          <a:lstStyle>
            <a:lvl1pPr algn="r">
              <a:defRPr sz="1000">
                <a:solidFill>
                  <a:srgbClr val="FFFFFF"/>
                </a:solidFill>
                <a:latin typeface="+mn-lt"/>
                <a:ea typeface="+mn-ea"/>
                <a:cs typeface="+mn-cs"/>
                <a:sym typeface="Calibri"/>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txStyles>
    <p:titleStyle>
      <a:lvl1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1pPr>
      <a:lvl2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2pPr>
      <a:lvl3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3pPr>
      <a:lvl4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4pPr>
      <a:lvl5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5pPr>
      <a:lvl6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6pPr>
      <a:lvl7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7pPr>
      <a:lvl8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8pPr>
      <a:lvl9pPr marL="0" marR="0" indent="0" algn="l" defTabSz="914400" rtl="0" latinLnBrk="0">
        <a:lnSpc>
          <a:spcPct val="85000"/>
        </a:lnSpc>
        <a:spcBef>
          <a:spcPts val="0"/>
        </a:spcBef>
        <a:spcAft>
          <a:spcPts val="0"/>
        </a:spcAft>
        <a:buClrTx/>
        <a:buSzTx/>
        <a:buFontTx/>
        <a:buNone/>
        <a:tabLst/>
        <a:defRPr sz="8000" b="0" i="0" u="none" strike="noStrike" cap="none" spc="-50" baseline="0">
          <a:solidFill>
            <a:srgbClr val="262626"/>
          </a:solidFill>
          <a:uFillTx/>
          <a:latin typeface="Calibri Light"/>
          <a:ea typeface="Calibri Light"/>
          <a:cs typeface="Calibri Light"/>
          <a:sym typeface="Calibri Light"/>
        </a:defRPr>
      </a:lvl9pPr>
    </p:titleStyle>
    <p:bodyStyle>
      <a:lvl1pPr marL="0" marR="0" indent="0" algn="l" defTabSz="914400" rtl="0" latinLnBrk="0">
        <a:lnSpc>
          <a:spcPct val="90000"/>
        </a:lnSpc>
        <a:spcBef>
          <a:spcPts val="1200"/>
        </a:spcBef>
        <a:spcAft>
          <a:spcPts val="0"/>
        </a:spcAft>
        <a:buClrTx/>
        <a:buSzTx/>
        <a:buFontTx/>
        <a:buNone/>
        <a:tabLst/>
        <a:defRPr sz="2400" b="0" i="0" u="none" strike="noStrike" cap="all" spc="200" baseline="0">
          <a:solidFill>
            <a:srgbClr val="637052"/>
          </a:solidFill>
          <a:uFillTx/>
          <a:latin typeface="Calibri Light"/>
          <a:ea typeface="Calibri Light"/>
          <a:cs typeface="Calibri Light"/>
          <a:sym typeface="Calibri Light"/>
        </a:defRPr>
      </a:lvl1pPr>
      <a:lvl2pPr marL="0" marR="0" indent="0" algn="l" defTabSz="914400" rtl="0" latinLnBrk="0">
        <a:lnSpc>
          <a:spcPct val="90000"/>
        </a:lnSpc>
        <a:spcBef>
          <a:spcPts val="1200"/>
        </a:spcBef>
        <a:spcAft>
          <a:spcPts val="0"/>
        </a:spcAft>
        <a:buClrTx/>
        <a:buSzTx/>
        <a:buFontTx/>
        <a:buNone/>
        <a:tabLst/>
        <a:defRPr sz="2400" b="0" i="0" u="none" strike="noStrike" cap="all" spc="200" baseline="0">
          <a:solidFill>
            <a:srgbClr val="637052"/>
          </a:solidFill>
          <a:uFillTx/>
          <a:latin typeface="Calibri Light"/>
          <a:ea typeface="Calibri Light"/>
          <a:cs typeface="Calibri Light"/>
          <a:sym typeface="Calibri Light"/>
        </a:defRPr>
      </a:lvl2pPr>
      <a:lvl3pPr marL="0" marR="0" indent="0" algn="l" defTabSz="914400" rtl="0" latinLnBrk="0">
        <a:lnSpc>
          <a:spcPct val="90000"/>
        </a:lnSpc>
        <a:spcBef>
          <a:spcPts val="1200"/>
        </a:spcBef>
        <a:spcAft>
          <a:spcPts val="0"/>
        </a:spcAft>
        <a:buClrTx/>
        <a:buSzTx/>
        <a:buFontTx/>
        <a:buNone/>
        <a:tabLst/>
        <a:defRPr sz="2400" b="0" i="0" u="none" strike="noStrike" cap="all" spc="200" baseline="0">
          <a:solidFill>
            <a:srgbClr val="637052"/>
          </a:solidFill>
          <a:uFillTx/>
          <a:latin typeface="Calibri Light"/>
          <a:ea typeface="Calibri Light"/>
          <a:cs typeface="Calibri Light"/>
          <a:sym typeface="Calibri Light"/>
        </a:defRPr>
      </a:lvl3pPr>
      <a:lvl4pPr marL="0" marR="0" indent="0" algn="l" defTabSz="914400" rtl="0" latinLnBrk="0">
        <a:lnSpc>
          <a:spcPct val="90000"/>
        </a:lnSpc>
        <a:spcBef>
          <a:spcPts val="1200"/>
        </a:spcBef>
        <a:spcAft>
          <a:spcPts val="0"/>
        </a:spcAft>
        <a:buClrTx/>
        <a:buSzTx/>
        <a:buFontTx/>
        <a:buNone/>
        <a:tabLst/>
        <a:defRPr sz="2400" b="0" i="0" u="none" strike="noStrike" cap="all" spc="200" baseline="0">
          <a:solidFill>
            <a:srgbClr val="637052"/>
          </a:solidFill>
          <a:uFillTx/>
          <a:latin typeface="Calibri Light"/>
          <a:ea typeface="Calibri Light"/>
          <a:cs typeface="Calibri Light"/>
          <a:sym typeface="Calibri Light"/>
        </a:defRPr>
      </a:lvl4pPr>
      <a:lvl5pPr marL="0" marR="0" indent="0" algn="l" defTabSz="914400" rtl="0" latinLnBrk="0">
        <a:lnSpc>
          <a:spcPct val="90000"/>
        </a:lnSpc>
        <a:spcBef>
          <a:spcPts val="1200"/>
        </a:spcBef>
        <a:spcAft>
          <a:spcPts val="0"/>
        </a:spcAft>
        <a:buClrTx/>
        <a:buSzTx/>
        <a:buFontTx/>
        <a:buNone/>
        <a:tabLst/>
        <a:defRPr sz="2400" b="0" i="0" u="none" strike="noStrike" cap="all" spc="200" baseline="0">
          <a:solidFill>
            <a:srgbClr val="637052"/>
          </a:solidFill>
          <a:uFillTx/>
          <a:latin typeface="Calibri Light"/>
          <a:ea typeface="Calibri Light"/>
          <a:cs typeface="Calibri Light"/>
          <a:sym typeface="Calibri Light"/>
        </a:defRPr>
      </a:lvl5pPr>
      <a:lvl6pPr marL="1263285" marR="0" indent="-391885" algn="l" defTabSz="914400" rtl="0" latinLnBrk="0">
        <a:lnSpc>
          <a:spcPct val="90000"/>
        </a:lnSpc>
        <a:spcBef>
          <a:spcPts val="1200"/>
        </a:spcBef>
        <a:spcAft>
          <a:spcPts val="0"/>
        </a:spcAft>
        <a:buClrTx/>
        <a:buSzPct val="100000"/>
        <a:buFontTx/>
        <a:buChar char="◦"/>
        <a:tabLst/>
        <a:defRPr sz="2400" b="0" i="0" u="none" strike="noStrike" cap="all" spc="200" baseline="0">
          <a:solidFill>
            <a:srgbClr val="637052"/>
          </a:solidFill>
          <a:uFillTx/>
          <a:latin typeface="Calibri Light"/>
          <a:ea typeface="Calibri Light"/>
          <a:cs typeface="Calibri Light"/>
          <a:sym typeface="Calibri Light"/>
        </a:defRPr>
      </a:lvl6pPr>
      <a:lvl7pPr marL="1463285" marR="0" indent="-391885" algn="l" defTabSz="914400" rtl="0" latinLnBrk="0">
        <a:lnSpc>
          <a:spcPct val="90000"/>
        </a:lnSpc>
        <a:spcBef>
          <a:spcPts val="1200"/>
        </a:spcBef>
        <a:spcAft>
          <a:spcPts val="0"/>
        </a:spcAft>
        <a:buClrTx/>
        <a:buSzPct val="100000"/>
        <a:buFontTx/>
        <a:buChar char="◦"/>
        <a:tabLst/>
        <a:defRPr sz="2400" b="0" i="0" u="none" strike="noStrike" cap="all" spc="200" baseline="0">
          <a:solidFill>
            <a:srgbClr val="637052"/>
          </a:solidFill>
          <a:uFillTx/>
          <a:latin typeface="Calibri Light"/>
          <a:ea typeface="Calibri Light"/>
          <a:cs typeface="Calibri Light"/>
          <a:sym typeface="Calibri Light"/>
        </a:defRPr>
      </a:lvl7pPr>
      <a:lvl8pPr marL="1663285" marR="0" indent="-391885" algn="l" defTabSz="914400" rtl="0" latinLnBrk="0">
        <a:lnSpc>
          <a:spcPct val="90000"/>
        </a:lnSpc>
        <a:spcBef>
          <a:spcPts val="1200"/>
        </a:spcBef>
        <a:spcAft>
          <a:spcPts val="0"/>
        </a:spcAft>
        <a:buClrTx/>
        <a:buSzPct val="100000"/>
        <a:buFontTx/>
        <a:buChar char="◦"/>
        <a:tabLst/>
        <a:defRPr sz="2400" b="0" i="0" u="none" strike="noStrike" cap="all" spc="200" baseline="0">
          <a:solidFill>
            <a:srgbClr val="637052"/>
          </a:solidFill>
          <a:uFillTx/>
          <a:latin typeface="Calibri Light"/>
          <a:ea typeface="Calibri Light"/>
          <a:cs typeface="Calibri Light"/>
          <a:sym typeface="Calibri Light"/>
        </a:defRPr>
      </a:lvl8pPr>
      <a:lvl9pPr marL="1863285" marR="0" indent="-391885" algn="l" defTabSz="914400" rtl="0" latinLnBrk="0">
        <a:lnSpc>
          <a:spcPct val="90000"/>
        </a:lnSpc>
        <a:spcBef>
          <a:spcPts val="1200"/>
        </a:spcBef>
        <a:spcAft>
          <a:spcPts val="0"/>
        </a:spcAft>
        <a:buClrTx/>
        <a:buSzPct val="100000"/>
        <a:buFontTx/>
        <a:buChar char="◦"/>
        <a:tabLst/>
        <a:defRPr sz="2400" b="0" i="0" u="none" strike="noStrike" cap="all" spc="200" baseline="0">
          <a:solidFill>
            <a:srgbClr val="637052"/>
          </a:solidFill>
          <a:uFillTx/>
          <a:latin typeface="Calibri Light"/>
          <a:ea typeface="Calibri Light"/>
          <a:cs typeface="Calibri Light"/>
          <a:sym typeface="Calibri Light"/>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Footer Placeholder 1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28" name="Title 1"/>
          <p:cNvSpPr txBox="1"/>
          <p:nvPr/>
        </p:nvSpPr>
        <p:spPr>
          <a:xfrm>
            <a:off x="2331720" y="2444968"/>
            <a:ext cx="7528560" cy="21089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b">
            <a:normAutofit fontScale="92500" lnSpcReduction="20000"/>
          </a:bodyPr>
          <a:lstStyle/>
          <a:p>
            <a:pPr algn="ctr" defTabSz="365759">
              <a:lnSpc>
                <a:spcPct val="68000"/>
              </a:lnSpc>
              <a:defRPr sz="1700" b="1" spc="-20">
                <a:solidFill>
                  <a:srgbClr val="404040"/>
                </a:solidFill>
                <a:latin typeface="Times New Roman"/>
                <a:ea typeface="Times New Roman"/>
                <a:cs typeface="Times New Roman"/>
                <a:sym typeface="Times New Roman"/>
              </a:defRPr>
            </a:pPr>
            <a:endParaRPr dirty="0"/>
          </a:p>
          <a:p>
            <a:pPr algn="ctr" defTabSz="365759">
              <a:lnSpc>
                <a:spcPct val="68000"/>
              </a:lnSpc>
              <a:defRPr sz="1700" b="1" spc="-20">
                <a:solidFill>
                  <a:srgbClr val="404040"/>
                </a:solidFill>
                <a:latin typeface="Times New Roman"/>
                <a:ea typeface="Times New Roman"/>
                <a:cs typeface="Times New Roman"/>
                <a:sym typeface="Times New Roman"/>
              </a:defRPr>
            </a:pPr>
            <a:endParaRPr dirty="0"/>
          </a:p>
          <a:p>
            <a:pPr algn="ctr" defTabSz="365759">
              <a:lnSpc>
                <a:spcPct val="68000"/>
              </a:lnSpc>
              <a:defRPr sz="3400" b="1" spc="-20">
                <a:solidFill>
                  <a:srgbClr val="404040"/>
                </a:solidFill>
                <a:latin typeface="Times New Roman"/>
                <a:ea typeface="Times New Roman"/>
                <a:cs typeface="Times New Roman"/>
                <a:sym typeface="Times New Roman"/>
              </a:defRPr>
            </a:pPr>
            <a:endParaRPr sz="2000" dirty="0"/>
          </a:p>
          <a:p>
            <a:pPr algn="ctr" defTabSz="365759">
              <a:lnSpc>
                <a:spcPct val="68000"/>
              </a:lnSpc>
              <a:defRPr sz="800" b="1" spc="-100">
                <a:solidFill>
                  <a:srgbClr val="404040"/>
                </a:solidFill>
                <a:latin typeface="Times New Roman"/>
                <a:ea typeface="Times New Roman"/>
                <a:cs typeface="Times New Roman"/>
                <a:sym typeface="Times New Roman"/>
              </a:defRPr>
            </a:pPr>
            <a:r>
              <a:rPr sz="2000" dirty="0"/>
              <a:t>B</a:t>
            </a:r>
            <a:r>
              <a:rPr lang="en-IN" sz="2000" dirty="0"/>
              <a:t>CD</a:t>
            </a:r>
            <a:r>
              <a:rPr sz="2000" dirty="0"/>
              <a:t>586 – Mini </a:t>
            </a:r>
            <a:r>
              <a:rPr lang="en-IN" sz="2000" dirty="0"/>
              <a:t>Project</a:t>
            </a:r>
            <a:br>
              <a:rPr lang="en-IN" sz="2000" dirty="0"/>
            </a:br>
            <a:br>
              <a:rPr lang="en-IN" sz="2000" dirty="0"/>
            </a:br>
            <a:r>
              <a:rPr lang="en-US" sz="2000" dirty="0"/>
              <a:t>VERDICT </a:t>
            </a:r>
          </a:p>
          <a:p>
            <a:pPr algn="ctr" defTabSz="365759">
              <a:lnSpc>
                <a:spcPct val="150000"/>
              </a:lnSpc>
              <a:defRPr sz="800" b="1" spc="-100">
                <a:solidFill>
                  <a:srgbClr val="404040"/>
                </a:solidFill>
                <a:latin typeface="Times New Roman"/>
                <a:ea typeface="Times New Roman"/>
                <a:cs typeface="Times New Roman"/>
                <a:sym typeface="Times New Roman"/>
              </a:defRPr>
            </a:pPr>
            <a:r>
              <a:rPr lang="en-US" sz="2000" dirty="0"/>
              <a:t>A Legal Judgment Digestor using LLMs</a:t>
            </a:r>
            <a:br>
              <a:rPr lang="en-US" sz="2000" dirty="0"/>
            </a:br>
            <a:r>
              <a:rPr lang="en-US" sz="2000" dirty="0"/>
              <a:t> and</a:t>
            </a:r>
          </a:p>
          <a:p>
            <a:pPr algn="ctr" defTabSz="365759">
              <a:lnSpc>
                <a:spcPct val="150000"/>
              </a:lnSpc>
              <a:defRPr sz="800" b="1" spc="-100">
                <a:solidFill>
                  <a:srgbClr val="404040"/>
                </a:solidFill>
                <a:latin typeface="Times New Roman"/>
                <a:ea typeface="Times New Roman"/>
                <a:cs typeface="Times New Roman"/>
                <a:sym typeface="Times New Roman"/>
              </a:defRPr>
            </a:pPr>
            <a:r>
              <a:rPr lang="en-US" sz="2000" dirty="0"/>
              <a:t> RAG (Retrieval-Augmented Generation) </a:t>
            </a:r>
          </a:p>
          <a:p>
            <a:pPr algn="ctr" defTabSz="365759">
              <a:lnSpc>
                <a:spcPct val="68000"/>
              </a:lnSpc>
              <a:defRPr sz="800" b="1" spc="-100">
                <a:solidFill>
                  <a:srgbClr val="404040"/>
                </a:solidFill>
                <a:latin typeface="Times New Roman"/>
                <a:ea typeface="Times New Roman"/>
                <a:cs typeface="Times New Roman"/>
                <a:sym typeface="Times New Roman"/>
              </a:defRPr>
            </a:pPr>
            <a:endParaRPr lang="en-IN" sz="2000" spc="-20" dirty="0">
              <a:solidFill>
                <a:srgbClr val="262626"/>
              </a:solidFill>
              <a:latin typeface="Carlito"/>
              <a:ea typeface="Carlito"/>
              <a:cs typeface="Carlito"/>
              <a:sym typeface="Carlito"/>
            </a:endParaRPr>
          </a:p>
          <a:p>
            <a:pPr algn="ctr" defTabSz="365759">
              <a:lnSpc>
                <a:spcPct val="68000"/>
              </a:lnSpc>
              <a:defRPr sz="3400" b="1" spc="-20">
                <a:solidFill>
                  <a:srgbClr val="404040"/>
                </a:solidFill>
                <a:latin typeface="Times New Roman"/>
                <a:ea typeface="Times New Roman"/>
                <a:cs typeface="Times New Roman"/>
                <a:sym typeface="Times New Roman"/>
              </a:defRPr>
            </a:pPr>
            <a:endParaRPr lang="en-IN" spc="-20" dirty="0">
              <a:solidFill>
                <a:srgbClr val="262626"/>
              </a:solidFill>
              <a:latin typeface="Carlito"/>
              <a:ea typeface="Carlito"/>
              <a:cs typeface="Carlito"/>
              <a:sym typeface="Carlito"/>
            </a:endParaRPr>
          </a:p>
          <a:p>
            <a:pPr algn="ctr" defTabSz="365759">
              <a:lnSpc>
                <a:spcPct val="68000"/>
              </a:lnSpc>
              <a:defRPr sz="800" b="1" spc="-100">
                <a:latin typeface="Times New Roman"/>
                <a:ea typeface="Times New Roman"/>
                <a:cs typeface="Times New Roman"/>
                <a:sym typeface="Times New Roman"/>
              </a:defRPr>
            </a:pPr>
            <a:endParaRPr lang="en-IN" sz="3300" spc="-20" dirty="0"/>
          </a:p>
          <a:p>
            <a:pPr algn="ctr" defTabSz="365759">
              <a:lnSpc>
                <a:spcPct val="68000"/>
              </a:lnSpc>
              <a:defRPr sz="3400" b="1" spc="-20">
                <a:solidFill>
                  <a:srgbClr val="404040"/>
                </a:solidFill>
                <a:latin typeface="Times New Roman"/>
                <a:ea typeface="Times New Roman"/>
                <a:cs typeface="Times New Roman"/>
                <a:sym typeface="Times New Roman"/>
              </a:defRPr>
            </a:pPr>
            <a:endParaRPr sz="3300" spc="-20" dirty="0"/>
          </a:p>
        </p:txBody>
      </p:sp>
      <p:sp>
        <p:nvSpPr>
          <p:cNvPr id="129" name="Title 1"/>
          <p:cNvSpPr txBox="1"/>
          <p:nvPr/>
        </p:nvSpPr>
        <p:spPr>
          <a:xfrm>
            <a:off x="1143000" y="4098531"/>
            <a:ext cx="6424689" cy="2135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b">
            <a:spAutoFit/>
          </a:bodyPr>
          <a:lstStyle/>
          <a:p>
            <a:pPr>
              <a:defRPr sz="2400" b="1">
                <a:solidFill>
                  <a:srgbClr val="178DBB"/>
                </a:solidFill>
                <a:latin typeface="Times New Roman"/>
                <a:ea typeface="Times New Roman"/>
                <a:cs typeface="Times New Roman"/>
                <a:sym typeface="Times New Roman"/>
              </a:defRPr>
            </a:pPr>
            <a:endParaRPr dirty="0"/>
          </a:p>
          <a:p>
            <a:pPr>
              <a:defRPr sz="2400" b="1">
                <a:solidFill>
                  <a:srgbClr val="178DBB"/>
                </a:solidFill>
                <a:latin typeface="Times New Roman"/>
                <a:ea typeface="Times New Roman"/>
                <a:cs typeface="Times New Roman"/>
                <a:sym typeface="Times New Roman"/>
              </a:defRPr>
            </a:pPr>
            <a:r>
              <a:rPr dirty="0"/>
              <a:t>Presented By: </a:t>
            </a:r>
          </a:p>
          <a:p>
            <a:pPr>
              <a:defRPr sz="2400" b="1">
                <a:solidFill>
                  <a:srgbClr val="178DBB"/>
                </a:solidFill>
                <a:latin typeface="Times New Roman"/>
                <a:ea typeface="Times New Roman"/>
                <a:cs typeface="Times New Roman"/>
                <a:sym typeface="Times New Roman"/>
              </a:defRPr>
            </a:pPr>
            <a:r>
              <a:rPr dirty="0" err="1"/>
              <a:t>Thammappa</a:t>
            </a:r>
            <a:r>
              <a:rPr dirty="0"/>
              <a:t> Gari Amarthya    1AY23CD066</a:t>
            </a:r>
          </a:p>
          <a:p>
            <a:pPr>
              <a:defRPr sz="2400" b="1">
                <a:solidFill>
                  <a:srgbClr val="178DBB"/>
                </a:solidFill>
                <a:latin typeface="Times New Roman"/>
                <a:ea typeface="Times New Roman"/>
                <a:cs typeface="Times New Roman"/>
                <a:sym typeface="Times New Roman"/>
              </a:defRPr>
            </a:pPr>
            <a:r>
              <a:rPr dirty="0"/>
              <a:t>Rishik Raj G                               1AY23CD051</a:t>
            </a:r>
          </a:p>
          <a:p>
            <a:pPr>
              <a:defRPr sz="2400" b="1">
                <a:solidFill>
                  <a:srgbClr val="178DBB"/>
                </a:solidFill>
                <a:latin typeface="Times New Roman"/>
                <a:ea typeface="Times New Roman"/>
                <a:cs typeface="Times New Roman"/>
                <a:sym typeface="Times New Roman"/>
              </a:defRPr>
            </a:pPr>
            <a:r>
              <a:rPr dirty="0"/>
              <a:t>Vishal Raj T                                1AY23CD070</a:t>
            </a:r>
          </a:p>
          <a:p>
            <a:pPr>
              <a:defRPr sz="2400" b="1">
                <a:solidFill>
                  <a:srgbClr val="178DBB"/>
                </a:solidFill>
                <a:latin typeface="Times New Roman"/>
                <a:ea typeface="Times New Roman"/>
                <a:cs typeface="Times New Roman"/>
                <a:sym typeface="Times New Roman"/>
              </a:defRPr>
            </a:pPr>
            <a:r>
              <a:rPr dirty="0" err="1"/>
              <a:t>Thammisetty</a:t>
            </a:r>
            <a:r>
              <a:rPr dirty="0"/>
              <a:t> </a:t>
            </a:r>
            <a:r>
              <a:rPr dirty="0" err="1"/>
              <a:t>Premsagar</a:t>
            </a:r>
            <a:r>
              <a:rPr dirty="0"/>
              <a:t>           1AY23CD067</a:t>
            </a:r>
          </a:p>
        </p:txBody>
      </p:sp>
      <p:sp>
        <p:nvSpPr>
          <p:cNvPr id="130" name="Title 1"/>
          <p:cNvSpPr txBox="1"/>
          <p:nvPr/>
        </p:nvSpPr>
        <p:spPr>
          <a:xfrm>
            <a:off x="7101073" y="3949159"/>
            <a:ext cx="4747262" cy="22696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b">
            <a:spAutoFit/>
          </a:bodyPr>
          <a:lstStyle/>
          <a:p>
            <a:pPr>
              <a:lnSpc>
                <a:spcPct val="120000"/>
              </a:lnSpc>
              <a:defRPr sz="2400" b="1">
                <a:solidFill>
                  <a:srgbClr val="178DBB"/>
                </a:solidFill>
                <a:latin typeface="Times New Roman"/>
                <a:ea typeface="Times New Roman"/>
                <a:cs typeface="Times New Roman"/>
                <a:sym typeface="Times New Roman"/>
              </a:defRPr>
            </a:pPr>
            <a:endParaRPr dirty="0"/>
          </a:p>
          <a:p>
            <a:pPr>
              <a:lnSpc>
                <a:spcPct val="120000"/>
              </a:lnSpc>
              <a:defRPr sz="2400" b="1">
                <a:solidFill>
                  <a:srgbClr val="178DBB"/>
                </a:solidFill>
                <a:latin typeface="Times New Roman"/>
                <a:ea typeface="Times New Roman"/>
                <a:cs typeface="Times New Roman"/>
                <a:sym typeface="Times New Roman"/>
              </a:defRPr>
            </a:pPr>
            <a:r>
              <a:rPr dirty="0"/>
              <a:t>           Under the Guidance of</a:t>
            </a:r>
          </a:p>
          <a:p>
            <a:pPr>
              <a:lnSpc>
                <a:spcPct val="120000"/>
              </a:lnSpc>
              <a:defRPr sz="2400" b="1">
                <a:solidFill>
                  <a:srgbClr val="178DBB"/>
                </a:solidFill>
                <a:latin typeface="Times New Roman"/>
                <a:ea typeface="Times New Roman"/>
                <a:cs typeface="Times New Roman"/>
                <a:sym typeface="Times New Roman"/>
              </a:defRPr>
            </a:pPr>
            <a:r>
              <a:rPr dirty="0"/>
              <a:t>                    Mr. Abhijith S</a:t>
            </a:r>
          </a:p>
          <a:p>
            <a:pPr>
              <a:lnSpc>
                <a:spcPct val="120000"/>
              </a:lnSpc>
              <a:defRPr sz="2400" b="1">
                <a:solidFill>
                  <a:srgbClr val="178DBB"/>
                </a:solidFill>
                <a:latin typeface="Times New Roman"/>
                <a:ea typeface="Times New Roman"/>
                <a:cs typeface="Times New Roman"/>
                <a:sym typeface="Times New Roman"/>
              </a:defRPr>
            </a:pPr>
            <a:r>
              <a:rPr dirty="0"/>
              <a:t>                Assistant Professor</a:t>
            </a:r>
          </a:p>
          <a:p>
            <a:pPr algn="ctr">
              <a:lnSpc>
                <a:spcPct val="120000"/>
              </a:lnSpc>
              <a:defRPr sz="2400" b="1">
                <a:solidFill>
                  <a:srgbClr val="178DBB"/>
                </a:solidFill>
                <a:latin typeface="Times New Roman"/>
                <a:ea typeface="Times New Roman"/>
                <a:cs typeface="Times New Roman"/>
                <a:sym typeface="Times New Roman"/>
              </a:defRPr>
            </a:pPr>
            <a:r>
              <a:rPr dirty="0"/>
              <a:t>    CSE(DS)</a:t>
            </a:r>
          </a:p>
        </p:txBody>
      </p:sp>
      <p:pic>
        <p:nvPicPr>
          <p:cNvPr id="131" name="Picture 9" descr="Picture 9"/>
          <p:cNvPicPr>
            <a:picLocks noChangeAspect="1"/>
          </p:cNvPicPr>
          <p:nvPr/>
        </p:nvPicPr>
        <p:blipFill>
          <a:blip r:embed="rId2"/>
          <a:stretch>
            <a:fillRect/>
          </a:stretch>
        </p:blipFill>
        <p:spPr>
          <a:xfrm>
            <a:off x="307975" y="349933"/>
            <a:ext cx="1943100" cy="1324095"/>
          </a:xfrm>
          <a:prstGeom prst="rect">
            <a:avLst/>
          </a:prstGeom>
          <a:ln w="12700">
            <a:miter lim="400000"/>
          </a:ln>
        </p:spPr>
      </p:pic>
      <p:sp>
        <p:nvSpPr>
          <p:cNvPr id="132" name="TextBox 12"/>
          <p:cNvSpPr txBox="1"/>
          <p:nvPr/>
        </p:nvSpPr>
        <p:spPr>
          <a:xfrm>
            <a:off x="3299898" y="459808"/>
            <a:ext cx="5595379" cy="6151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defRPr b="1">
                <a:latin typeface="Times New Roman"/>
                <a:ea typeface="Times New Roman"/>
                <a:cs typeface="Times New Roman"/>
                <a:sym typeface="Times New Roman"/>
              </a:defRPr>
            </a:pPr>
            <a:r>
              <a:t>VISVESVARAYA TECHNOLOGICAL UNIVERSITY</a:t>
            </a:r>
          </a:p>
          <a:p>
            <a:pPr algn="ctr">
              <a:defRPr b="1">
                <a:latin typeface="Times New Roman"/>
                <a:ea typeface="Times New Roman"/>
                <a:cs typeface="Times New Roman"/>
                <a:sym typeface="Times New Roman"/>
              </a:defRPr>
            </a:pPr>
            <a:r>
              <a:t>Belagavi - 590 018</a:t>
            </a:r>
          </a:p>
        </p:txBody>
      </p:sp>
      <p:sp>
        <p:nvSpPr>
          <p:cNvPr id="133" name="Date Placeholder 13"/>
          <p:cNvSpPr txBox="1"/>
          <p:nvPr/>
        </p:nvSpPr>
        <p:spPr>
          <a:xfrm>
            <a:off x="1143000" y="6539392"/>
            <a:ext cx="2380833" cy="2059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lvl1pPr>
              <a:defRPr sz="900">
                <a:solidFill>
                  <a:srgbClr val="FFFFFF"/>
                </a:solidFill>
                <a:latin typeface="+mn-lt"/>
                <a:ea typeface="+mn-ea"/>
                <a:cs typeface="+mn-cs"/>
                <a:sym typeface="Calibri"/>
              </a:defRPr>
            </a:lvl1pPr>
          </a:lstStyle>
          <a:p>
            <a:r>
              <a:t>November 17, 2025</a:t>
            </a:r>
          </a:p>
        </p:txBody>
      </p:sp>
      <p:sp>
        <p:nvSpPr>
          <p:cNvPr id="134" name="Slide Number Placeholder 1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pic>
        <p:nvPicPr>
          <p:cNvPr id="135" name="Picture 16" descr="Picture 16"/>
          <p:cNvPicPr>
            <a:picLocks noChangeAspect="1"/>
          </p:cNvPicPr>
          <p:nvPr/>
        </p:nvPicPr>
        <p:blipFill>
          <a:blip r:embed="rId3"/>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38" name="Title 1"/>
          <p:cNvSpPr txBox="1">
            <a:spLocks noGrp="1"/>
          </p:cNvSpPr>
          <p:nvPr>
            <p:ph type="title"/>
          </p:nvPr>
        </p:nvSpPr>
        <p:spPr>
          <a:xfrm>
            <a:off x="1068387" y="340790"/>
            <a:ext cx="10058401" cy="1450757"/>
          </a:xfrm>
          <a:prstGeom prst="rect">
            <a:avLst/>
          </a:prstGeom>
        </p:spPr>
        <p:txBody>
          <a:bodyPr/>
          <a:lstStyle>
            <a:lvl1pPr>
              <a:defRPr spc="-100">
                <a:latin typeface="Times New Roman"/>
                <a:ea typeface="Times New Roman"/>
                <a:cs typeface="Times New Roman"/>
                <a:sym typeface="Times New Roman"/>
              </a:defRPr>
            </a:lvl1pPr>
          </a:lstStyle>
          <a:p>
            <a:r>
              <a:t>Content</a:t>
            </a:r>
          </a:p>
        </p:txBody>
      </p:sp>
      <p:graphicFrame>
        <p:nvGraphicFramePr>
          <p:cNvPr id="139" name="Content Placeholder 10"/>
          <p:cNvGraphicFramePr/>
          <p:nvPr/>
        </p:nvGraphicFramePr>
        <p:xfrm>
          <a:off x="1096962" y="1846263"/>
          <a:ext cx="10058399" cy="4450080"/>
        </p:xfrm>
        <a:graphic>
          <a:graphicData uri="http://schemas.openxmlformats.org/drawingml/2006/table">
            <a:tbl>
              <a:tblPr firstRow="1" bandRow="1">
                <a:tableStyleId>{4C3C2611-4C71-4FC5-86AE-919BDF0F9419}</a:tableStyleId>
              </a:tblPr>
              <a:tblGrid>
                <a:gridCol w="968375">
                  <a:extLst>
                    <a:ext uri="{9D8B030D-6E8A-4147-A177-3AD203B41FA5}">
                      <a16:colId xmlns:a16="http://schemas.microsoft.com/office/drawing/2014/main" val="20000"/>
                    </a:ext>
                  </a:extLst>
                </a:gridCol>
                <a:gridCol w="9090024">
                  <a:extLst>
                    <a:ext uri="{9D8B030D-6E8A-4147-A177-3AD203B41FA5}">
                      <a16:colId xmlns:a16="http://schemas.microsoft.com/office/drawing/2014/main" val="20001"/>
                    </a:ext>
                  </a:extLst>
                </a:gridCol>
              </a:tblGrid>
              <a:tr h="370840">
                <a:tc>
                  <a:txBody>
                    <a:bodyPr/>
                    <a:lstStyle/>
                    <a:p>
                      <a:pPr algn="l">
                        <a:defRPr sz="1800" b="0">
                          <a:solidFill>
                            <a:srgbClr val="000000"/>
                          </a:solidFill>
                        </a:defRPr>
                      </a:pPr>
                      <a:r>
                        <a:rPr b="1">
                          <a:solidFill>
                            <a:srgbClr val="FFFFFF"/>
                          </a:solidFill>
                          <a:latin typeface="Times New Roman"/>
                          <a:ea typeface="Times New Roman"/>
                          <a:cs typeface="Times New Roman"/>
                          <a:sym typeface="Times New Roman"/>
                        </a:rPr>
                        <a:t>SN</a:t>
                      </a:r>
                    </a:p>
                  </a:txBody>
                  <a:tcPr marL="45720" marR="45720" horzOverflow="overflow"/>
                </a:tc>
                <a:tc>
                  <a:txBody>
                    <a:bodyPr/>
                    <a:lstStyle/>
                    <a:p>
                      <a:pPr algn="l">
                        <a:defRPr sz="1800" b="0">
                          <a:solidFill>
                            <a:srgbClr val="000000"/>
                          </a:solidFill>
                        </a:defRPr>
                      </a:pPr>
                      <a:r>
                        <a:rPr b="1">
                          <a:solidFill>
                            <a:srgbClr val="FFFFFF"/>
                          </a:solidFill>
                          <a:latin typeface="Times New Roman"/>
                          <a:ea typeface="Times New Roman"/>
                          <a:cs typeface="Times New Roman"/>
                          <a:sym typeface="Times New Roman"/>
                        </a:rPr>
                        <a:t>Title</a:t>
                      </a:r>
                    </a:p>
                  </a:txBody>
                  <a:tcPr marL="45720" marR="45720" horzOverflow="overflow"/>
                </a:tc>
                <a:extLst>
                  <a:ext uri="{0D108BD9-81ED-4DB2-BD59-A6C34878D82A}">
                    <a16:rowId xmlns:a16="http://schemas.microsoft.com/office/drawing/2014/main" val="10000"/>
                  </a:ext>
                </a:extLst>
              </a:tr>
              <a:tr h="370840">
                <a:tc>
                  <a:txBody>
                    <a:bodyPr/>
                    <a:lstStyle/>
                    <a:p>
                      <a:pPr algn="l">
                        <a:defRPr sz="1800"/>
                      </a:pPr>
                      <a:r>
                        <a:rPr>
                          <a:latin typeface="Times New Roman"/>
                          <a:ea typeface="Times New Roman"/>
                          <a:cs typeface="Times New Roman"/>
                          <a:sym typeface="Times New Roman"/>
                        </a:rPr>
                        <a:t>1</a:t>
                      </a:r>
                    </a:p>
                  </a:txBody>
                  <a:tcPr marL="45720" marR="45720" horzOverflow="overflow"/>
                </a:tc>
                <a:tc>
                  <a:txBody>
                    <a:bodyPr/>
                    <a:lstStyle/>
                    <a:p>
                      <a:pPr algn="l">
                        <a:defRPr sz="1800"/>
                      </a:pPr>
                      <a:r>
                        <a:rPr>
                          <a:latin typeface="Times New Roman"/>
                          <a:ea typeface="Times New Roman"/>
                          <a:cs typeface="Times New Roman"/>
                          <a:sym typeface="Times New Roman"/>
                        </a:rPr>
                        <a:t>Abstract</a:t>
                      </a:r>
                    </a:p>
                  </a:txBody>
                  <a:tcPr marL="45720" marR="45720" horzOverflow="overflow"/>
                </a:tc>
                <a:extLst>
                  <a:ext uri="{0D108BD9-81ED-4DB2-BD59-A6C34878D82A}">
                    <a16:rowId xmlns:a16="http://schemas.microsoft.com/office/drawing/2014/main" val="10001"/>
                  </a:ext>
                </a:extLst>
              </a:tr>
              <a:tr h="370840">
                <a:tc>
                  <a:txBody>
                    <a:bodyPr/>
                    <a:lstStyle/>
                    <a:p>
                      <a:pPr algn="l">
                        <a:defRPr sz="1800"/>
                      </a:pPr>
                      <a:r>
                        <a:rPr>
                          <a:latin typeface="Times New Roman"/>
                          <a:ea typeface="Times New Roman"/>
                          <a:cs typeface="Times New Roman"/>
                          <a:sym typeface="Times New Roman"/>
                        </a:rPr>
                        <a:t>2</a:t>
                      </a:r>
                    </a:p>
                  </a:txBody>
                  <a:tcPr marL="45720" marR="45720" horzOverflow="overflow"/>
                </a:tc>
                <a:tc>
                  <a:txBody>
                    <a:bodyPr/>
                    <a:lstStyle/>
                    <a:p>
                      <a:pPr algn="l">
                        <a:defRPr sz="1800"/>
                      </a:pPr>
                      <a:r>
                        <a:rPr>
                          <a:latin typeface="Times New Roman"/>
                          <a:ea typeface="Times New Roman"/>
                          <a:cs typeface="Times New Roman"/>
                          <a:sym typeface="Times New Roman"/>
                        </a:rPr>
                        <a:t>Introduction</a:t>
                      </a:r>
                    </a:p>
                  </a:txBody>
                  <a:tcPr marL="45720" marR="45720" horzOverflow="overflow"/>
                </a:tc>
                <a:extLst>
                  <a:ext uri="{0D108BD9-81ED-4DB2-BD59-A6C34878D82A}">
                    <a16:rowId xmlns:a16="http://schemas.microsoft.com/office/drawing/2014/main" val="10002"/>
                  </a:ext>
                </a:extLst>
              </a:tr>
              <a:tr h="370840">
                <a:tc>
                  <a:txBody>
                    <a:bodyPr/>
                    <a:lstStyle/>
                    <a:p>
                      <a:pPr algn="l">
                        <a:defRPr sz="1800"/>
                      </a:pPr>
                      <a:r>
                        <a:rPr>
                          <a:latin typeface="Times New Roman"/>
                          <a:ea typeface="Times New Roman"/>
                          <a:cs typeface="Times New Roman"/>
                          <a:sym typeface="Times New Roman"/>
                        </a:rPr>
                        <a:t>3</a:t>
                      </a:r>
                    </a:p>
                  </a:txBody>
                  <a:tcPr marL="45720" marR="45720" horzOverflow="overflow"/>
                </a:tc>
                <a:tc>
                  <a:txBody>
                    <a:bodyPr/>
                    <a:lstStyle/>
                    <a:p>
                      <a:pPr algn="l">
                        <a:defRPr sz="1800"/>
                      </a:pPr>
                      <a:r>
                        <a:rPr>
                          <a:latin typeface="Times New Roman"/>
                          <a:ea typeface="Times New Roman"/>
                          <a:cs typeface="Times New Roman"/>
                          <a:sym typeface="Times New Roman"/>
                        </a:rPr>
                        <a:t>Literature Survey </a:t>
                      </a:r>
                    </a:p>
                  </a:txBody>
                  <a:tcPr marL="45720" marR="45720" horzOverflow="overflow"/>
                </a:tc>
                <a:extLst>
                  <a:ext uri="{0D108BD9-81ED-4DB2-BD59-A6C34878D82A}">
                    <a16:rowId xmlns:a16="http://schemas.microsoft.com/office/drawing/2014/main" val="10003"/>
                  </a:ext>
                </a:extLst>
              </a:tr>
              <a:tr h="370840">
                <a:tc>
                  <a:txBody>
                    <a:bodyPr/>
                    <a:lstStyle/>
                    <a:p>
                      <a:pPr algn="l">
                        <a:defRPr sz="1800"/>
                      </a:pPr>
                      <a:r>
                        <a:rPr>
                          <a:latin typeface="Times New Roman"/>
                          <a:ea typeface="Times New Roman"/>
                          <a:cs typeface="Times New Roman"/>
                          <a:sym typeface="Times New Roman"/>
                        </a:rPr>
                        <a:t>4</a:t>
                      </a:r>
                    </a:p>
                  </a:txBody>
                  <a:tcPr marL="45720" marR="45720" horzOverflow="overflow"/>
                </a:tc>
                <a:tc>
                  <a:txBody>
                    <a:bodyPr/>
                    <a:lstStyle/>
                    <a:p>
                      <a:pPr algn="l">
                        <a:defRPr sz="1800"/>
                      </a:pPr>
                      <a:r>
                        <a:rPr>
                          <a:latin typeface="Times New Roman"/>
                          <a:ea typeface="Times New Roman"/>
                          <a:cs typeface="Times New Roman"/>
                          <a:sym typeface="Times New Roman"/>
                        </a:rPr>
                        <a:t>Flow Diagram</a:t>
                      </a:r>
                    </a:p>
                  </a:txBody>
                  <a:tcPr marL="45720" marR="45720" horzOverflow="overflow"/>
                </a:tc>
                <a:extLst>
                  <a:ext uri="{0D108BD9-81ED-4DB2-BD59-A6C34878D82A}">
                    <a16:rowId xmlns:a16="http://schemas.microsoft.com/office/drawing/2014/main" val="10004"/>
                  </a:ext>
                </a:extLst>
              </a:tr>
              <a:tr h="370840">
                <a:tc>
                  <a:txBody>
                    <a:bodyPr/>
                    <a:lstStyle/>
                    <a:p>
                      <a:pPr algn="l">
                        <a:defRPr sz="1800"/>
                      </a:pPr>
                      <a:r>
                        <a:rPr>
                          <a:latin typeface="Times New Roman"/>
                          <a:ea typeface="Times New Roman"/>
                          <a:cs typeface="Times New Roman"/>
                          <a:sym typeface="Times New Roman"/>
                        </a:rPr>
                        <a:t>5</a:t>
                      </a:r>
                    </a:p>
                  </a:txBody>
                  <a:tcPr marL="45720" marR="45720" horzOverflow="overflow"/>
                </a:tc>
                <a:tc>
                  <a:txBody>
                    <a:bodyPr/>
                    <a:lstStyle/>
                    <a:p>
                      <a:pPr algn="l">
                        <a:defRPr sz="1800"/>
                      </a:pPr>
                      <a:r>
                        <a:rPr>
                          <a:latin typeface="Times New Roman"/>
                          <a:ea typeface="Times New Roman"/>
                          <a:cs typeface="Times New Roman"/>
                          <a:sym typeface="Times New Roman"/>
                        </a:rPr>
                        <a:t>System Architecture</a:t>
                      </a:r>
                    </a:p>
                  </a:txBody>
                  <a:tcPr marL="45720" marR="45720" horzOverflow="overflow"/>
                </a:tc>
                <a:extLst>
                  <a:ext uri="{0D108BD9-81ED-4DB2-BD59-A6C34878D82A}">
                    <a16:rowId xmlns:a16="http://schemas.microsoft.com/office/drawing/2014/main" val="10005"/>
                  </a:ext>
                </a:extLst>
              </a:tr>
              <a:tr h="370840">
                <a:tc>
                  <a:txBody>
                    <a:bodyPr/>
                    <a:lstStyle/>
                    <a:p>
                      <a:pPr algn="l">
                        <a:defRPr sz="1800"/>
                      </a:pPr>
                      <a:r>
                        <a:rPr>
                          <a:latin typeface="Times New Roman"/>
                          <a:ea typeface="Times New Roman"/>
                          <a:cs typeface="Times New Roman"/>
                          <a:sym typeface="Times New Roman"/>
                        </a:rPr>
                        <a:t>6</a:t>
                      </a:r>
                    </a:p>
                  </a:txBody>
                  <a:tcPr marL="45720" marR="45720" horzOverflow="overflow"/>
                </a:tc>
                <a:tc>
                  <a:txBody>
                    <a:bodyPr/>
                    <a:lstStyle/>
                    <a:p>
                      <a:pPr algn="l">
                        <a:defRPr sz="1800"/>
                      </a:pPr>
                      <a:r>
                        <a:rPr>
                          <a:latin typeface="Times New Roman"/>
                          <a:ea typeface="Times New Roman"/>
                          <a:cs typeface="Times New Roman"/>
                          <a:sym typeface="Times New Roman"/>
                        </a:rPr>
                        <a:t>Methodology</a:t>
                      </a:r>
                    </a:p>
                  </a:txBody>
                  <a:tcPr marL="45720" marR="45720" horzOverflow="overflow"/>
                </a:tc>
                <a:extLst>
                  <a:ext uri="{0D108BD9-81ED-4DB2-BD59-A6C34878D82A}">
                    <a16:rowId xmlns:a16="http://schemas.microsoft.com/office/drawing/2014/main" val="10006"/>
                  </a:ext>
                </a:extLst>
              </a:tr>
              <a:tr h="370840">
                <a:tc>
                  <a:txBody>
                    <a:bodyPr/>
                    <a:lstStyle/>
                    <a:p>
                      <a:pPr algn="l">
                        <a:defRPr sz="1800"/>
                      </a:pPr>
                      <a:r>
                        <a:rPr>
                          <a:latin typeface="Times New Roman"/>
                          <a:ea typeface="Times New Roman"/>
                          <a:cs typeface="Times New Roman"/>
                          <a:sym typeface="Times New Roman"/>
                        </a:rPr>
                        <a:t>7</a:t>
                      </a:r>
                    </a:p>
                  </a:txBody>
                  <a:tcPr marL="45720" marR="45720" horzOverflow="overflow"/>
                </a:tc>
                <a:tc>
                  <a:txBody>
                    <a:bodyPr/>
                    <a:lstStyle/>
                    <a:p>
                      <a:pPr algn="l">
                        <a:defRPr sz="1800"/>
                      </a:pPr>
                      <a:r>
                        <a:rPr>
                          <a:latin typeface="Times New Roman"/>
                          <a:ea typeface="Times New Roman"/>
                          <a:cs typeface="Times New Roman"/>
                          <a:sym typeface="Times New Roman"/>
                        </a:rPr>
                        <a:t>System Testing</a:t>
                      </a:r>
                    </a:p>
                  </a:txBody>
                  <a:tcPr marL="45720" marR="45720" horzOverflow="overflow"/>
                </a:tc>
                <a:extLst>
                  <a:ext uri="{0D108BD9-81ED-4DB2-BD59-A6C34878D82A}">
                    <a16:rowId xmlns:a16="http://schemas.microsoft.com/office/drawing/2014/main" val="10007"/>
                  </a:ext>
                </a:extLst>
              </a:tr>
              <a:tr h="370840">
                <a:tc>
                  <a:txBody>
                    <a:bodyPr/>
                    <a:lstStyle/>
                    <a:p>
                      <a:pPr algn="l">
                        <a:defRPr sz="1800"/>
                      </a:pPr>
                      <a:r>
                        <a:rPr>
                          <a:latin typeface="Times New Roman"/>
                          <a:ea typeface="Times New Roman"/>
                          <a:cs typeface="Times New Roman"/>
                          <a:sym typeface="Times New Roman"/>
                        </a:rPr>
                        <a:t>8</a:t>
                      </a:r>
                    </a:p>
                  </a:txBody>
                  <a:tcPr marL="45720" marR="45720" horzOverflow="overflow"/>
                </a:tc>
                <a:tc>
                  <a:txBody>
                    <a:bodyPr/>
                    <a:lstStyle/>
                    <a:p>
                      <a:pPr algn="l">
                        <a:defRPr sz="1800"/>
                      </a:pPr>
                      <a:r>
                        <a:rPr>
                          <a:latin typeface="Times New Roman"/>
                          <a:ea typeface="Times New Roman"/>
                          <a:cs typeface="Times New Roman"/>
                          <a:sym typeface="Times New Roman"/>
                        </a:rPr>
                        <a:t>Result &amp;Discussion</a:t>
                      </a:r>
                    </a:p>
                  </a:txBody>
                  <a:tcPr marL="45720" marR="45720" horzOverflow="overflow"/>
                </a:tc>
                <a:extLst>
                  <a:ext uri="{0D108BD9-81ED-4DB2-BD59-A6C34878D82A}">
                    <a16:rowId xmlns:a16="http://schemas.microsoft.com/office/drawing/2014/main" val="10008"/>
                  </a:ext>
                </a:extLst>
              </a:tr>
              <a:tr h="370840">
                <a:tc>
                  <a:txBody>
                    <a:bodyPr/>
                    <a:lstStyle/>
                    <a:p>
                      <a:pPr algn="l">
                        <a:defRPr sz="1800"/>
                      </a:pPr>
                      <a:r>
                        <a:rPr>
                          <a:latin typeface="Times New Roman"/>
                          <a:ea typeface="Times New Roman"/>
                          <a:cs typeface="Times New Roman"/>
                          <a:sym typeface="Times New Roman"/>
                        </a:rPr>
                        <a:t>9</a:t>
                      </a:r>
                    </a:p>
                  </a:txBody>
                  <a:tcPr marL="45720" marR="45720" horzOverflow="overflow"/>
                </a:tc>
                <a:tc>
                  <a:txBody>
                    <a:bodyPr/>
                    <a:lstStyle/>
                    <a:p>
                      <a:pPr algn="l">
                        <a:defRPr sz="1800"/>
                      </a:pPr>
                      <a:r>
                        <a:rPr>
                          <a:latin typeface="Times New Roman"/>
                          <a:ea typeface="Times New Roman"/>
                          <a:cs typeface="Times New Roman"/>
                          <a:sym typeface="Times New Roman"/>
                        </a:rPr>
                        <a:t>Demonstration of Prototype</a:t>
                      </a:r>
                    </a:p>
                  </a:txBody>
                  <a:tcPr marL="45720" marR="45720" horzOverflow="overflow"/>
                </a:tc>
                <a:extLst>
                  <a:ext uri="{0D108BD9-81ED-4DB2-BD59-A6C34878D82A}">
                    <a16:rowId xmlns:a16="http://schemas.microsoft.com/office/drawing/2014/main" val="10009"/>
                  </a:ext>
                </a:extLst>
              </a:tr>
              <a:tr h="370840">
                <a:tc>
                  <a:txBody>
                    <a:bodyPr/>
                    <a:lstStyle/>
                    <a:p>
                      <a:pPr algn="l">
                        <a:defRPr sz="1800"/>
                      </a:pPr>
                      <a:r>
                        <a:rPr>
                          <a:latin typeface="Times New Roman"/>
                          <a:ea typeface="Times New Roman"/>
                          <a:cs typeface="Times New Roman"/>
                          <a:sym typeface="Times New Roman"/>
                        </a:rPr>
                        <a:t>10</a:t>
                      </a:r>
                    </a:p>
                  </a:txBody>
                  <a:tcPr marL="45720" marR="45720" horzOverflow="overflow"/>
                </a:tc>
                <a:tc>
                  <a:txBody>
                    <a:bodyPr/>
                    <a:lstStyle/>
                    <a:p>
                      <a:pPr algn="l">
                        <a:defRPr sz="1800"/>
                      </a:pPr>
                      <a:r>
                        <a:rPr>
                          <a:latin typeface="Times New Roman"/>
                          <a:ea typeface="Times New Roman"/>
                          <a:cs typeface="Times New Roman"/>
                          <a:sym typeface="Times New Roman"/>
                        </a:rPr>
                        <a:t>Future Works</a:t>
                      </a:r>
                    </a:p>
                  </a:txBody>
                  <a:tcPr marL="45720" marR="45720" horzOverflow="overflow"/>
                </a:tc>
                <a:extLst>
                  <a:ext uri="{0D108BD9-81ED-4DB2-BD59-A6C34878D82A}">
                    <a16:rowId xmlns:a16="http://schemas.microsoft.com/office/drawing/2014/main" val="10010"/>
                  </a:ext>
                </a:extLst>
              </a:tr>
              <a:tr h="370840">
                <a:tc>
                  <a:txBody>
                    <a:bodyPr/>
                    <a:lstStyle/>
                    <a:p>
                      <a:pPr algn="l">
                        <a:defRPr sz="1800"/>
                      </a:pPr>
                      <a:r>
                        <a:rPr>
                          <a:latin typeface="Times New Roman"/>
                          <a:ea typeface="Times New Roman"/>
                          <a:cs typeface="Times New Roman"/>
                          <a:sym typeface="Times New Roman"/>
                        </a:rPr>
                        <a:t>11</a:t>
                      </a:r>
                    </a:p>
                  </a:txBody>
                  <a:tcPr marL="45720" marR="45720" horzOverflow="overflow"/>
                </a:tc>
                <a:tc>
                  <a:txBody>
                    <a:bodyPr/>
                    <a:lstStyle/>
                    <a:p>
                      <a:pPr algn="l">
                        <a:defRPr sz="1800"/>
                      </a:pPr>
                      <a:r>
                        <a:rPr>
                          <a:latin typeface="Times New Roman"/>
                          <a:ea typeface="Times New Roman"/>
                          <a:cs typeface="Times New Roman"/>
                          <a:sym typeface="Times New Roman"/>
                        </a:rPr>
                        <a:t>Conclusion</a:t>
                      </a:r>
                    </a:p>
                  </a:txBody>
                  <a:tcPr marL="45720" marR="45720" horzOverflow="overflow"/>
                </a:tc>
                <a:extLst>
                  <a:ext uri="{0D108BD9-81ED-4DB2-BD59-A6C34878D82A}">
                    <a16:rowId xmlns:a16="http://schemas.microsoft.com/office/drawing/2014/main" val="10011"/>
                  </a:ext>
                </a:extLst>
              </a:tr>
            </a:tbl>
          </a:graphicData>
        </a:graphic>
      </p:graphicFrame>
      <p:sp>
        <p:nvSpPr>
          <p:cNvPr id="140"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41"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pic>
        <p:nvPicPr>
          <p:cNvPr id="142"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45"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Abstract</a:t>
            </a:r>
          </a:p>
        </p:txBody>
      </p:sp>
      <p:sp>
        <p:nvSpPr>
          <p:cNvPr id="146" name="Content Placeholder 2"/>
          <p:cNvSpPr txBox="1">
            <a:spLocks noGrp="1"/>
          </p:cNvSpPr>
          <p:nvPr>
            <p:ph type="body" idx="1"/>
          </p:nvPr>
        </p:nvSpPr>
        <p:spPr>
          <a:xfrm>
            <a:off x="862118" y="1737360"/>
            <a:ext cx="10789923" cy="4249234"/>
          </a:xfrm>
          <a:prstGeom prst="rect">
            <a:avLst/>
          </a:prstGeom>
        </p:spPr>
        <p:txBody>
          <a:bodyPr>
            <a:noAutofit/>
          </a:bodyPr>
          <a:lstStyle/>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Legal judgments are long, complex, and difficult to interpret quickly.</a:t>
            </a:r>
          </a:p>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Traditional summarizers and standard LLMs produce unreliable or hallucinated outputs.</a:t>
            </a:r>
          </a:p>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The proposed Legal Judgment Digestor uses LLMs + RAG to generate accurate, structured, and citation-faithful summaries.</a:t>
            </a:r>
          </a:p>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Uses transformer models, hybrid retrieval, structure-aware preprocessing, and adaptive summarization.</a:t>
            </a:r>
          </a:p>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Provides two summary modes: Lawyer Mode (detailed) and Citizen Mode (</a:t>
            </a:r>
            <a:r>
              <a:rPr lang="en-US" sz="2400" dirty="0"/>
              <a:t>Future-work</a:t>
            </a:r>
            <a:r>
              <a:rPr sz="2400" dirty="0"/>
              <a:t>).</a:t>
            </a:r>
          </a:p>
          <a:p>
            <a:pPr marL="190498" indent="-190498" defTabSz="434340">
              <a:lnSpc>
                <a:spcPct val="100000"/>
              </a:lnSpc>
              <a:spcBef>
                <a:spcPts val="1100"/>
              </a:spcBef>
              <a:buClrTx/>
              <a:buFontTx/>
              <a:buChar char="•"/>
              <a:defRPr sz="2300">
                <a:solidFill>
                  <a:srgbClr val="000000"/>
                </a:solidFill>
                <a:latin typeface="Times New Roman"/>
                <a:ea typeface="Times New Roman"/>
                <a:cs typeface="Times New Roman"/>
                <a:sym typeface="Times New Roman"/>
              </a:defRPr>
            </a:pPr>
            <a:r>
              <a:rPr sz="2400" dirty="0"/>
              <a:t>Improves legal accessibility, reduces workload, and enhances trustworthy AI-driven legal assistance</a:t>
            </a:r>
            <a:r>
              <a:rPr sz="2400" dirty="0">
                <a:latin typeface="DIN Condensed Bold"/>
                <a:ea typeface="DIN Condensed Bold"/>
                <a:cs typeface="DIN Condensed Bold"/>
                <a:sym typeface="DIN Condensed Bold"/>
              </a:rPr>
              <a:t>. </a:t>
            </a:r>
          </a:p>
        </p:txBody>
      </p:sp>
      <p:sp>
        <p:nvSpPr>
          <p:cNvPr id="147"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48"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pic>
        <p:nvPicPr>
          <p:cNvPr id="149" name="Picture 6" descr="Picture 6"/>
          <p:cNvPicPr>
            <a:picLocks noChangeAspect="1"/>
          </p:cNvPicPr>
          <p:nvPr/>
        </p:nvPicPr>
        <p:blipFill>
          <a:blip r:embed="rId2"/>
          <a:stretch>
            <a:fillRect/>
          </a:stretch>
        </p:blipFill>
        <p:spPr>
          <a:xfrm>
            <a:off x="9619988" y="178230"/>
            <a:ext cx="1535693" cy="1450757"/>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52"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Introduction</a:t>
            </a:r>
          </a:p>
        </p:txBody>
      </p:sp>
      <p:sp>
        <p:nvSpPr>
          <p:cNvPr id="153" name="Content Placeholder 2"/>
          <p:cNvSpPr txBox="1">
            <a:spLocks noGrp="1"/>
          </p:cNvSpPr>
          <p:nvPr>
            <p:ph type="body" idx="1"/>
          </p:nvPr>
        </p:nvSpPr>
        <p:spPr>
          <a:xfrm>
            <a:off x="944974" y="1757179"/>
            <a:ext cx="10210708" cy="4111916"/>
          </a:xfrm>
          <a:prstGeom prst="rect">
            <a:avLst/>
          </a:prstGeom>
        </p:spPr>
        <p:txBody>
          <a:bodyPr>
            <a:noAutofit/>
          </a:bodyPr>
          <a:lstStyle/>
          <a:p>
            <a:pPr marL="120315" indent="-120315" defTabSz="457200">
              <a:lnSpc>
                <a:spcPct val="100000"/>
              </a:lnSpc>
              <a:buClrTx/>
              <a:buFontTx/>
              <a:buChar char="•"/>
              <a:defRPr sz="2200">
                <a:solidFill>
                  <a:srgbClr val="000000"/>
                </a:solidFill>
                <a:latin typeface="Times Roman"/>
                <a:ea typeface="Times Roman"/>
                <a:cs typeface="Times Roman"/>
                <a:sym typeface="Times Roman"/>
              </a:defRPr>
            </a:pPr>
            <a:r>
              <a:rPr sz="2400" dirty="0"/>
              <a:t> I</a:t>
            </a:r>
            <a:r>
              <a:rPr sz="2400" dirty="0">
                <a:latin typeface="Times New Roman"/>
                <a:ea typeface="Times New Roman"/>
                <a:cs typeface="Times New Roman"/>
                <a:sym typeface="Times New Roman"/>
              </a:rPr>
              <a:t>ndian legal documents are extremely verbose, with complex reasoning and domain-  specific terminology.           </a:t>
            </a:r>
          </a:p>
          <a:p>
            <a:pPr marL="250657" indent="-250657" defTabSz="457200">
              <a:lnSpc>
                <a:spcPct val="100000"/>
              </a:lnSpc>
              <a:buClrTx/>
              <a:buFontTx/>
              <a:buChar char="•"/>
              <a:defRPr sz="2200">
                <a:solidFill>
                  <a:srgbClr val="000000"/>
                </a:solidFill>
                <a:latin typeface="Times New Roman"/>
                <a:ea typeface="Times New Roman"/>
                <a:cs typeface="Times New Roman"/>
                <a:sym typeface="Times New Roman"/>
              </a:defRPr>
            </a:pPr>
            <a:r>
              <a:rPr sz="2400" dirty="0"/>
              <a:t>Lawyers, students, and citizens struggle to analyze long judgments effectively.</a:t>
            </a:r>
          </a:p>
          <a:p>
            <a:pPr marL="250657" indent="-250657" defTabSz="457200">
              <a:lnSpc>
                <a:spcPct val="100000"/>
              </a:lnSpc>
              <a:buClrTx/>
              <a:buFontTx/>
              <a:buChar char="•"/>
              <a:defRPr sz="2200">
                <a:solidFill>
                  <a:srgbClr val="000000"/>
                </a:solidFill>
                <a:latin typeface="Times New Roman"/>
                <a:ea typeface="Times New Roman"/>
                <a:cs typeface="Times New Roman"/>
                <a:sym typeface="Times New Roman"/>
              </a:defRPr>
            </a:pPr>
            <a:r>
              <a:rPr sz="2400" dirty="0"/>
              <a:t>Standard LLMs hallucinate, lack up-to-date knowledge, and fail to preserve legal structure.</a:t>
            </a:r>
          </a:p>
          <a:p>
            <a:pPr marL="250657" indent="-250657" defTabSz="457200">
              <a:lnSpc>
                <a:spcPct val="100000"/>
              </a:lnSpc>
              <a:buClrTx/>
              <a:buFontTx/>
              <a:buChar char="•"/>
              <a:defRPr sz="2200">
                <a:solidFill>
                  <a:srgbClr val="000000"/>
                </a:solidFill>
                <a:latin typeface="Times New Roman"/>
                <a:ea typeface="Times New Roman"/>
                <a:cs typeface="Times New Roman"/>
                <a:sym typeface="Times New Roman"/>
              </a:defRPr>
            </a:pPr>
            <a:r>
              <a:rPr sz="2400" dirty="0"/>
              <a:t>RAG helps ground LLM responses in real legal sources but needs domain-aware optimization.</a:t>
            </a:r>
          </a:p>
          <a:p>
            <a:pPr marL="250657" indent="-250657" defTabSz="457200">
              <a:lnSpc>
                <a:spcPct val="100000"/>
              </a:lnSpc>
              <a:buClrTx/>
              <a:buFontTx/>
              <a:buChar char="•"/>
              <a:defRPr sz="2200">
                <a:solidFill>
                  <a:srgbClr val="000000"/>
                </a:solidFill>
                <a:latin typeface="Times New Roman"/>
                <a:ea typeface="Times New Roman"/>
                <a:cs typeface="Times New Roman"/>
                <a:sym typeface="Times New Roman"/>
              </a:defRPr>
            </a:pPr>
            <a:r>
              <a:rPr sz="2400" dirty="0"/>
              <a:t>Proposed solution integrates structure-aware preprocessing, hybrid retrieval, and verifiable summarization.</a:t>
            </a:r>
          </a:p>
          <a:p>
            <a:pPr marL="250657" indent="-250657" defTabSz="457200">
              <a:lnSpc>
                <a:spcPct val="100000"/>
              </a:lnSpc>
              <a:buClrTx/>
              <a:buFontTx/>
              <a:buChar char="•"/>
              <a:defRPr sz="2200">
                <a:solidFill>
                  <a:srgbClr val="000000"/>
                </a:solidFill>
                <a:latin typeface="Times New Roman"/>
                <a:ea typeface="Times New Roman"/>
                <a:cs typeface="Times New Roman"/>
                <a:sym typeface="Times New Roman"/>
              </a:defRPr>
            </a:pPr>
            <a:r>
              <a:rPr sz="2400" dirty="0"/>
              <a:t>Offers tailored summaries for expert and non-expert audiences</a:t>
            </a:r>
          </a:p>
        </p:txBody>
      </p:sp>
      <p:sp>
        <p:nvSpPr>
          <p:cNvPr id="154"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55"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pic>
        <p:nvPicPr>
          <p:cNvPr id="156"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59" name="Title 1"/>
          <p:cNvSpPr txBox="1">
            <a:spLocks noGrp="1"/>
          </p:cNvSpPr>
          <p:nvPr>
            <p:ph type="title"/>
          </p:nvPr>
        </p:nvSpPr>
        <p:spPr>
          <a:xfrm>
            <a:off x="154961" y="42846"/>
            <a:ext cx="2793891" cy="530702"/>
          </a:xfrm>
          <a:prstGeom prst="rect">
            <a:avLst/>
          </a:prstGeom>
        </p:spPr>
        <p:txBody>
          <a:bodyPr>
            <a:normAutofit fontScale="90000"/>
          </a:bodyPr>
          <a:lstStyle>
            <a:lvl1pPr>
              <a:defRPr spc="-100">
                <a:latin typeface="Times New Roman"/>
                <a:ea typeface="Times New Roman"/>
                <a:cs typeface="Times New Roman"/>
                <a:sym typeface="Times New Roman"/>
              </a:defRPr>
            </a:lvl1pPr>
          </a:lstStyle>
          <a:p>
            <a:r>
              <a:rPr sz="3200" b="1" dirty="0"/>
              <a:t>Literature Survey</a:t>
            </a:r>
          </a:p>
        </p:txBody>
      </p:sp>
      <p:sp>
        <p:nvSpPr>
          <p:cNvPr id="160"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61"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graphicFrame>
        <p:nvGraphicFramePr>
          <p:cNvPr id="163" name="Content Placeholder 9"/>
          <p:cNvGraphicFramePr/>
          <p:nvPr>
            <p:extLst>
              <p:ext uri="{D42A27DB-BD31-4B8C-83A1-F6EECF244321}">
                <p14:modId xmlns:p14="http://schemas.microsoft.com/office/powerpoint/2010/main" val="1856118129"/>
              </p:ext>
            </p:extLst>
          </p:nvPr>
        </p:nvGraphicFramePr>
        <p:xfrm>
          <a:off x="81884" y="573548"/>
          <a:ext cx="11751847" cy="6400800"/>
        </p:xfrm>
        <a:graphic>
          <a:graphicData uri="http://schemas.openxmlformats.org/drawingml/2006/table">
            <a:tbl>
              <a:tblPr firstRow="1" bandRow="1">
                <a:tableStyleId>{4C3C2611-4C71-4FC5-86AE-919BDF0F9419}</a:tableStyleId>
              </a:tblPr>
              <a:tblGrid>
                <a:gridCol w="904240">
                  <a:extLst>
                    <a:ext uri="{9D8B030D-6E8A-4147-A177-3AD203B41FA5}">
                      <a16:colId xmlns:a16="http://schemas.microsoft.com/office/drawing/2014/main" val="20000"/>
                    </a:ext>
                  </a:extLst>
                </a:gridCol>
                <a:gridCol w="6490083">
                  <a:extLst>
                    <a:ext uri="{9D8B030D-6E8A-4147-A177-3AD203B41FA5}">
                      <a16:colId xmlns:a16="http://schemas.microsoft.com/office/drawing/2014/main" val="20001"/>
                    </a:ext>
                  </a:extLst>
                </a:gridCol>
                <a:gridCol w="2318761">
                  <a:extLst>
                    <a:ext uri="{9D8B030D-6E8A-4147-A177-3AD203B41FA5}">
                      <a16:colId xmlns:a16="http://schemas.microsoft.com/office/drawing/2014/main" val="20002"/>
                    </a:ext>
                  </a:extLst>
                </a:gridCol>
                <a:gridCol w="2038763">
                  <a:extLst>
                    <a:ext uri="{9D8B030D-6E8A-4147-A177-3AD203B41FA5}">
                      <a16:colId xmlns:a16="http://schemas.microsoft.com/office/drawing/2014/main" val="20003"/>
                    </a:ext>
                  </a:extLst>
                </a:gridCol>
              </a:tblGrid>
              <a:tr h="530896">
                <a:tc>
                  <a:txBody>
                    <a:bodyPr/>
                    <a:lstStyle/>
                    <a:p>
                      <a:pPr algn="ctr">
                        <a:defRPr sz="1800" b="0">
                          <a:solidFill>
                            <a:srgbClr val="000000"/>
                          </a:solidFill>
                        </a:defRPr>
                      </a:pPr>
                      <a:r>
                        <a:rPr sz="1600" b="1">
                          <a:solidFill>
                            <a:srgbClr val="FFFFFF"/>
                          </a:solidFill>
                          <a:latin typeface="Times New Roman"/>
                          <a:ea typeface="Times New Roman"/>
                          <a:cs typeface="Times New Roman"/>
                          <a:sym typeface="Times New Roman"/>
                        </a:rPr>
                        <a:t>Sl. No</a:t>
                      </a:r>
                    </a:p>
                  </a:txBody>
                  <a:tcPr marL="45720" marR="45720" anchor="ctr" horzOverflow="overflow"/>
                </a:tc>
                <a:tc>
                  <a:txBody>
                    <a:bodyPr/>
                    <a:lstStyle/>
                    <a:p>
                      <a:pPr algn="just">
                        <a:defRPr sz="1800" b="0">
                          <a:solidFill>
                            <a:srgbClr val="000000"/>
                          </a:solidFill>
                        </a:defRPr>
                      </a:pPr>
                      <a:r>
                        <a:rPr sz="1600" b="1" dirty="0">
                          <a:solidFill>
                            <a:srgbClr val="FFFFFF"/>
                          </a:solidFill>
                          <a:latin typeface="Times New Roman"/>
                          <a:ea typeface="Times New Roman"/>
                          <a:cs typeface="Times New Roman"/>
                          <a:sym typeface="Times New Roman"/>
                        </a:rPr>
                        <a:t>Citation(Reference IEEE Format)</a:t>
                      </a:r>
                    </a:p>
                  </a:txBody>
                  <a:tcPr marL="45720" marR="45720" horzOverflow="overflow"/>
                </a:tc>
                <a:tc>
                  <a:txBody>
                    <a:bodyPr/>
                    <a:lstStyle/>
                    <a:p>
                      <a:pPr algn="ctr">
                        <a:defRPr sz="1600">
                          <a:latin typeface="Times New Roman"/>
                          <a:ea typeface="Times New Roman"/>
                          <a:cs typeface="Times New Roman"/>
                          <a:sym typeface="Times New Roman"/>
                        </a:defRPr>
                      </a:pPr>
                      <a:endParaRPr/>
                    </a:p>
                    <a:p>
                      <a:pPr algn="ctr">
                        <a:defRPr sz="1600">
                          <a:latin typeface="Times New Roman"/>
                          <a:ea typeface="Times New Roman"/>
                          <a:cs typeface="Times New Roman"/>
                          <a:sym typeface="Times New Roman"/>
                        </a:defRPr>
                      </a:pPr>
                      <a:r>
                        <a:t>Methodology</a:t>
                      </a:r>
                    </a:p>
                  </a:txBody>
                  <a:tcPr marL="45720" marR="45720" horzOverflow="overflow"/>
                </a:tc>
                <a:tc>
                  <a:txBody>
                    <a:bodyPr/>
                    <a:lstStyle/>
                    <a:p>
                      <a:pPr algn="ctr">
                        <a:defRPr sz="1600">
                          <a:latin typeface="Times New Roman"/>
                          <a:ea typeface="Times New Roman"/>
                          <a:cs typeface="Times New Roman"/>
                          <a:sym typeface="Times New Roman"/>
                        </a:defRPr>
                      </a:pPr>
                      <a:endParaRPr/>
                    </a:p>
                    <a:p>
                      <a:pPr algn="ctr">
                        <a:defRPr sz="1600">
                          <a:latin typeface="Times New Roman"/>
                          <a:ea typeface="Times New Roman"/>
                          <a:cs typeface="Times New Roman"/>
                          <a:sym typeface="Times New Roman"/>
                        </a:defRPr>
                      </a:pPr>
                      <a:r>
                        <a:t>Limitation</a:t>
                      </a:r>
                    </a:p>
                  </a:txBody>
                  <a:tcPr marL="45720" marR="45720" horzOverflow="overflow"/>
                </a:tc>
                <a:extLst>
                  <a:ext uri="{0D108BD9-81ED-4DB2-BD59-A6C34878D82A}">
                    <a16:rowId xmlns:a16="http://schemas.microsoft.com/office/drawing/2014/main" val="10000"/>
                  </a:ext>
                </a:extLst>
              </a:tr>
              <a:tr h="1813868">
                <a:tc>
                  <a:txBody>
                    <a:bodyPr/>
                    <a:lstStyle/>
                    <a:p>
                      <a:pPr algn="ctr">
                        <a:defRPr sz="1800"/>
                      </a:pPr>
                      <a:r>
                        <a:rPr sz="1600">
                          <a:latin typeface="Times New Roman"/>
                          <a:ea typeface="Times New Roman"/>
                          <a:cs typeface="Times New Roman"/>
                          <a:sym typeface="Times New Roman"/>
                        </a:rPr>
                        <a:t>      1       </a:t>
                      </a:r>
                    </a:p>
                  </a:txBody>
                  <a:tcPr marL="45720" marR="45720" horzOverflow="overflow"/>
                </a:tc>
                <a:tc>
                  <a:txBody>
                    <a:bodyPr/>
                    <a:lstStyle/>
                    <a:p>
                      <a:pPr algn="l" defTabSz="457200">
                        <a:spcBef>
                          <a:spcPts val="1400"/>
                        </a:spcBef>
                        <a:defRPr sz="1500">
                          <a:latin typeface="Times Roman"/>
                          <a:ea typeface="Times Roman"/>
                          <a:cs typeface="Times Roman"/>
                          <a:sym typeface="Times Roman"/>
                        </a:defRPr>
                      </a:pPr>
                      <a:r>
                        <a:rPr sz="1800" dirty="0"/>
                        <a:t>[1] All for Law and Law for All: Adaptive RAG Pipeline for Legal Research</a:t>
                      </a:r>
                    </a:p>
                    <a:p>
                      <a:pPr algn="l" defTabSz="457200">
                        <a:spcBef>
                          <a:spcPts val="1200"/>
                        </a:spcBef>
                        <a:defRPr sz="1500">
                          <a:latin typeface="Times Roman"/>
                          <a:ea typeface="Times Roman"/>
                          <a:cs typeface="Times Roman"/>
                          <a:sym typeface="Times Roman"/>
                        </a:defRPr>
                      </a:pPr>
                      <a:r>
                        <a:rPr sz="1800" dirty="0"/>
                        <a:t>F. Keisha, P. Singh, Pallavi, D. Fernandes, A. Manivannan, I. </a:t>
                      </a:r>
                      <a:r>
                        <a:rPr sz="1800" dirty="0" err="1"/>
                        <a:t>Wicaksono</a:t>
                      </a:r>
                      <a:r>
                        <a:rPr sz="1800" dirty="0"/>
                        <a:t>, and F. Ahmad,</a:t>
                      </a:r>
                      <a:br>
                        <a:rPr sz="1800" dirty="0"/>
                      </a:br>
                      <a:r>
                        <a:rPr sz="1800" dirty="0"/>
                        <a:t>“All for Law and Law for All: Adaptive RAG Pipeline for Legal Research,” 2025.</a:t>
                      </a:r>
                    </a:p>
                    <a:p>
                      <a:pPr algn="l" defTabSz="457200">
                        <a:defRPr sz="1200">
                          <a:solidFill>
                            <a:srgbClr val="808080"/>
                          </a:solidFill>
                          <a:latin typeface="Times Roman"/>
                          <a:ea typeface="Times Roman"/>
                          <a:cs typeface="Times Roman"/>
                          <a:sym typeface="Times Roman"/>
                        </a:defRPr>
                      </a:pPr>
                      <a:endParaRPr dirty="0"/>
                    </a:p>
                  </a:txBody>
                  <a:tcPr marL="45720" marR="45720" horzOverflow="overflow"/>
                </a:tc>
                <a:tc>
                  <a:txBody>
                    <a:bodyPr/>
                    <a:lstStyle/>
                    <a:p>
                      <a:pPr algn="ctr">
                        <a:defRPr sz="1800"/>
                      </a:pPr>
                      <a:r>
                        <a:rPr sz="1800" dirty="0">
                          <a:latin typeface="Times New Roman"/>
                          <a:ea typeface="Times New Roman"/>
                          <a:cs typeface="Times New Roman"/>
                          <a:sym typeface="Times New Roman"/>
                        </a:rPr>
                        <a:t>RAG pipeline that automatically adjusts retrieval methods based on the type of legal query. </a:t>
                      </a:r>
                    </a:p>
                  </a:txBody>
                  <a:tcPr marL="45720" marR="45720" horzOverflow="overflow"/>
                </a:tc>
                <a:tc>
                  <a:txBody>
                    <a:bodyPr/>
                    <a:lstStyle/>
                    <a:p>
                      <a:pPr algn="ctr">
                        <a:defRPr sz="1800"/>
                      </a:pPr>
                      <a:r>
                        <a:rPr sz="1800" dirty="0">
                          <a:latin typeface="Times New Roman"/>
                          <a:ea typeface="Times New Roman"/>
                          <a:cs typeface="Times New Roman"/>
                          <a:sym typeface="Times New Roman"/>
                        </a:rPr>
                        <a:t>computationally expensive because several retrieval components run in parallel.</a:t>
                      </a:r>
                    </a:p>
                  </a:txBody>
                  <a:tcPr marL="45720" marR="45720" horzOverflow="overflow"/>
                </a:tc>
                <a:extLst>
                  <a:ext uri="{0D108BD9-81ED-4DB2-BD59-A6C34878D82A}">
                    <a16:rowId xmlns:a16="http://schemas.microsoft.com/office/drawing/2014/main" val="10001"/>
                  </a:ext>
                </a:extLst>
              </a:tr>
              <a:tr h="1592689">
                <a:tc>
                  <a:txBody>
                    <a:bodyPr/>
                    <a:lstStyle/>
                    <a:p>
                      <a:pPr algn="ctr">
                        <a:defRPr sz="1800"/>
                      </a:pPr>
                      <a:r>
                        <a:rPr sz="1600">
                          <a:latin typeface="Times New Roman"/>
                          <a:ea typeface="Times New Roman"/>
                          <a:cs typeface="Times New Roman"/>
                          <a:sym typeface="Times New Roman"/>
                        </a:rPr>
                        <a:t>    2</a:t>
                      </a:r>
                    </a:p>
                  </a:txBody>
                  <a:tcPr marL="45720" marR="4572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[2]</a:t>
                      </a:r>
                      <a:r>
                        <a:rPr sz="1800" dirty="0" err="1"/>
                        <a:t>HyPA</a:t>
                      </a:r>
                      <a:r>
                        <a:rPr sz="1800" dirty="0"/>
                        <a:t>-RAG: Hybrid Parameter Adaptive Retrieval-Augmented </a:t>
                      </a:r>
                      <a:r>
                        <a:rPr sz="1800" dirty="0" err="1"/>
                        <a:t>GenerationR</a:t>
                      </a:r>
                      <a:r>
                        <a:rPr sz="1800" dirty="0"/>
                        <a:t>. Kalra, Z. Wu, A. Gulley, A. Hilliard, X. Guan, A. </a:t>
                      </a:r>
                      <a:r>
                        <a:rPr sz="1800" dirty="0" err="1"/>
                        <a:t>Koshiyama</a:t>
                      </a:r>
                      <a:r>
                        <a:rPr sz="1800" dirty="0"/>
                        <a:t>, and P. Treleaven,“</a:t>
                      </a:r>
                      <a:r>
                        <a:rPr sz="1800" dirty="0" err="1"/>
                        <a:t>HyPA</a:t>
                      </a:r>
                      <a:r>
                        <a:rPr sz="1800" dirty="0"/>
                        <a:t>-RAG: Hybrid Parameter</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Adaptive Retrieval-Augmented Generation,” 2025.</a:t>
                      </a:r>
                    </a:p>
                  </a:txBody>
                  <a:tcPr marL="45720" marR="45720" horzOverflow="overflow"/>
                </a:tc>
                <a:tc>
                  <a:txBody>
                    <a:bodyPr/>
                    <a:lstStyle/>
                    <a:p>
                      <a:pPr algn="ctr">
                        <a:defRPr sz="1800"/>
                      </a:pPr>
                      <a:r>
                        <a:rPr sz="1800" dirty="0" err="1">
                          <a:latin typeface="Times New Roman"/>
                          <a:ea typeface="Times New Roman"/>
                          <a:cs typeface="Times New Roman"/>
                          <a:sym typeface="Times New Roman"/>
                        </a:rPr>
                        <a:t>HyPA</a:t>
                      </a:r>
                      <a:r>
                        <a:rPr sz="1800" dirty="0">
                          <a:latin typeface="Times New Roman"/>
                          <a:ea typeface="Times New Roman"/>
                          <a:cs typeface="Times New Roman"/>
                          <a:sym typeface="Times New Roman"/>
                        </a:rPr>
                        <a:t>-RAG combines dense and sparse retrieval methods while automatically adjusting parameters based on query difficulty. </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The system is difficult to tune because many adaptive mechanisms operate at the same time.</a:t>
                      </a:r>
                    </a:p>
                  </a:txBody>
                  <a:tcPr marL="45720" marR="45720" horzOverflow="overflow"/>
                </a:tc>
                <a:extLst>
                  <a:ext uri="{0D108BD9-81ED-4DB2-BD59-A6C34878D82A}">
                    <a16:rowId xmlns:a16="http://schemas.microsoft.com/office/drawing/2014/main" val="10002"/>
                  </a:ext>
                </a:extLst>
              </a:tr>
              <a:tr h="1647690">
                <a:tc>
                  <a:txBody>
                    <a:bodyPr/>
                    <a:lstStyle/>
                    <a:p>
                      <a:pPr algn="ctr">
                        <a:defRPr sz="1800"/>
                      </a:pPr>
                      <a:r>
                        <a:rPr sz="1600">
                          <a:latin typeface="Times New Roman"/>
                          <a:ea typeface="Times New Roman"/>
                          <a:cs typeface="Times New Roman"/>
                          <a:sym typeface="Times New Roman"/>
                        </a:rPr>
                        <a:t>    3</a:t>
                      </a:r>
                    </a:p>
                  </a:txBody>
                  <a:tcPr marL="45720" marR="4572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1B1C1D"/>
                          </a:solidFill>
                          <a:latin typeface="Times New Roman"/>
                          <a:ea typeface="Times New Roman"/>
                          <a:cs typeface="Times New Roman"/>
                          <a:sym typeface="Times New Roman"/>
                        </a:defRPr>
                      </a:pPr>
                      <a:r>
                        <a:rPr sz="1800" dirty="0"/>
                        <a:t>[3] The Hidden Structure: Improving Legal Document Understanding Through Explicit Text Formatting C. Braun, A. </a:t>
                      </a:r>
                      <a:r>
                        <a:rPr sz="1800" dirty="0" err="1"/>
                        <a:t>Lilienbeck</a:t>
                      </a:r>
                      <a:r>
                        <a:rPr sz="1800" dirty="0"/>
                        <a:t>, and D. </a:t>
                      </a:r>
                      <a:r>
                        <a:rPr sz="1800" dirty="0" err="1"/>
                        <a:t>Mentjukov</a:t>
                      </a:r>
                      <a:r>
                        <a:rPr sz="1800" dirty="0"/>
                        <a:t>,“The Hidden Structure: Improving</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200">
                          <a:solidFill>
                            <a:srgbClr val="1B1C1D"/>
                          </a:solidFill>
                          <a:latin typeface="Times New Roman"/>
                          <a:ea typeface="Times New Roman"/>
                          <a:cs typeface="Times New Roman"/>
                          <a:sym typeface="Times New Roman"/>
                        </a:defRPr>
                      </a:pPr>
                      <a:r>
                        <a:rPr sz="1800" dirty="0"/>
                        <a:t>Legal Document Understanding Through Explicit Text Formatting,” 2025.</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This paper  understanding by adding explicit structural formatting such as issue labels, argument tags, and reasoning markers</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The method requires significant manual or semi-automatic effort to label and format legal documents.</a:t>
                      </a:r>
                    </a:p>
                  </a:txBody>
                  <a:tcPr marL="45720" marR="45720" horzOverflow="overflow"/>
                </a:tc>
                <a:extLst>
                  <a:ext uri="{0D108BD9-81ED-4DB2-BD59-A6C34878D82A}">
                    <a16:rowId xmlns:a16="http://schemas.microsoft.com/office/drawing/2014/main" val="10003"/>
                  </a:ext>
                </a:extLst>
              </a:tr>
            </a:tbl>
          </a:graphicData>
        </a:graphic>
      </p:graphicFrame>
      <p:pic>
        <p:nvPicPr>
          <p:cNvPr id="162" name="Picture 6" descr="Picture 6"/>
          <p:cNvPicPr>
            <a:picLocks noChangeAspect="1"/>
          </p:cNvPicPr>
          <p:nvPr/>
        </p:nvPicPr>
        <p:blipFill>
          <a:blip r:embed="rId2"/>
          <a:stretch>
            <a:fillRect/>
          </a:stretch>
        </p:blipFill>
        <p:spPr>
          <a:xfrm>
            <a:off x="11421586" y="42846"/>
            <a:ext cx="688529" cy="650449"/>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66" name="Title 1"/>
          <p:cNvSpPr txBox="1">
            <a:spLocks noGrp="1"/>
          </p:cNvSpPr>
          <p:nvPr>
            <p:ph type="title"/>
          </p:nvPr>
        </p:nvSpPr>
        <p:spPr>
          <a:xfrm>
            <a:off x="200639" y="0"/>
            <a:ext cx="3382820" cy="602832"/>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Literature Survey</a:t>
            </a:r>
          </a:p>
        </p:txBody>
      </p:sp>
      <p:sp>
        <p:nvSpPr>
          <p:cNvPr id="167"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68"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graphicFrame>
        <p:nvGraphicFramePr>
          <p:cNvPr id="170" name="Content Placeholder 9"/>
          <p:cNvGraphicFramePr/>
          <p:nvPr>
            <p:extLst>
              <p:ext uri="{D42A27DB-BD31-4B8C-83A1-F6EECF244321}">
                <p14:modId xmlns:p14="http://schemas.microsoft.com/office/powerpoint/2010/main" val="3118471816"/>
              </p:ext>
            </p:extLst>
          </p:nvPr>
        </p:nvGraphicFramePr>
        <p:xfrm>
          <a:off x="125178" y="518160"/>
          <a:ext cx="11941643" cy="6339840"/>
        </p:xfrm>
        <a:graphic>
          <a:graphicData uri="http://schemas.openxmlformats.org/drawingml/2006/table">
            <a:tbl>
              <a:tblPr firstRow="1" bandRow="1">
                <a:tableStyleId>{4C3C2611-4C71-4FC5-86AE-919BDF0F9419}</a:tableStyleId>
              </a:tblPr>
              <a:tblGrid>
                <a:gridCol w="1172125">
                  <a:extLst>
                    <a:ext uri="{9D8B030D-6E8A-4147-A177-3AD203B41FA5}">
                      <a16:colId xmlns:a16="http://schemas.microsoft.com/office/drawing/2014/main" val="20000"/>
                    </a:ext>
                  </a:extLst>
                </a:gridCol>
                <a:gridCol w="6618918">
                  <a:extLst>
                    <a:ext uri="{9D8B030D-6E8A-4147-A177-3AD203B41FA5}">
                      <a16:colId xmlns:a16="http://schemas.microsoft.com/office/drawing/2014/main" val="20001"/>
                    </a:ext>
                  </a:extLst>
                </a:gridCol>
                <a:gridCol w="2229574">
                  <a:extLst>
                    <a:ext uri="{9D8B030D-6E8A-4147-A177-3AD203B41FA5}">
                      <a16:colId xmlns:a16="http://schemas.microsoft.com/office/drawing/2014/main" val="20002"/>
                    </a:ext>
                  </a:extLst>
                </a:gridCol>
                <a:gridCol w="1921026">
                  <a:extLst>
                    <a:ext uri="{9D8B030D-6E8A-4147-A177-3AD203B41FA5}">
                      <a16:colId xmlns:a16="http://schemas.microsoft.com/office/drawing/2014/main" val="20003"/>
                    </a:ext>
                  </a:extLst>
                </a:gridCol>
              </a:tblGrid>
              <a:tr h="486627">
                <a:tc>
                  <a:txBody>
                    <a:bodyPr/>
                    <a:lstStyle/>
                    <a:p>
                      <a:pPr algn="ctr">
                        <a:defRPr sz="1800" b="0">
                          <a:solidFill>
                            <a:srgbClr val="000000"/>
                          </a:solidFill>
                        </a:defRPr>
                      </a:pPr>
                      <a:r>
                        <a:rPr sz="1600" b="1">
                          <a:solidFill>
                            <a:srgbClr val="FFFFFF"/>
                          </a:solidFill>
                          <a:latin typeface="Times New Roman"/>
                          <a:ea typeface="Times New Roman"/>
                          <a:cs typeface="Times New Roman"/>
                          <a:sym typeface="Times New Roman"/>
                        </a:rPr>
                        <a:t>Sl. No</a:t>
                      </a:r>
                    </a:p>
                  </a:txBody>
                  <a:tcPr marL="45720" marR="45720" anchor="ctr" horzOverflow="overflow"/>
                </a:tc>
                <a:tc>
                  <a:txBody>
                    <a:bodyPr/>
                    <a:lstStyle/>
                    <a:p>
                      <a:pPr algn="just">
                        <a:defRPr sz="1800" b="0">
                          <a:solidFill>
                            <a:srgbClr val="000000"/>
                          </a:solidFill>
                        </a:defRPr>
                      </a:pPr>
                      <a:r>
                        <a:rPr sz="1600" b="1" dirty="0">
                          <a:solidFill>
                            <a:srgbClr val="FFFFFF"/>
                          </a:solidFill>
                          <a:latin typeface="Times New Roman"/>
                          <a:ea typeface="Times New Roman"/>
                          <a:cs typeface="Times New Roman"/>
                          <a:sym typeface="Times New Roman"/>
                        </a:rPr>
                        <a:t>Citation(Reference IEEE Format)</a:t>
                      </a:r>
                    </a:p>
                  </a:txBody>
                  <a:tcPr marL="45720" marR="45720" horzOverflow="overflow"/>
                </a:tc>
                <a:tc>
                  <a:txBody>
                    <a:bodyPr/>
                    <a:lstStyle/>
                    <a:p>
                      <a:pPr algn="ctr">
                        <a:defRPr sz="1600">
                          <a:latin typeface="Times New Roman"/>
                          <a:ea typeface="Times New Roman"/>
                          <a:cs typeface="Times New Roman"/>
                          <a:sym typeface="Times New Roman"/>
                        </a:defRPr>
                      </a:pPr>
                      <a:endParaRPr/>
                    </a:p>
                    <a:p>
                      <a:pPr algn="ctr">
                        <a:defRPr sz="1600">
                          <a:latin typeface="Times New Roman"/>
                          <a:ea typeface="Times New Roman"/>
                          <a:cs typeface="Times New Roman"/>
                          <a:sym typeface="Times New Roman"/>
                        </a:defRPr>
                      </a:pPr>
                      <a:r>
                        <a:t>Methodology</a:t>
                      </a:r>
                    </a:p>
                  </a:txBody>
                  <a:tcPr marL="45720" marR="45720" horzOverflow="overflow"/>
                </a:tc>
                <a:tc>
                  <a:txBody>
                    <a:bodyPr/>
                    <a:lstStyle/>
                    <a:p>
                      <a:pPr algn="ctr">
                        <a:defRPr sz="1600">
                          <a:latin typeface="Times New Roman"/>
                          <a:ea typeface="Times New Roman"/>
                          <a:cs typeface="Times New Roman"/>
                          <a:sym typeface="Times New Roman"/>
                        </a:defRPr>
                      </a:pPr>
                      <a:endParaRPr/>
                    </a:p>
                    <a:p>
                      <a:pPr algn="ctr">
                        <a:defRPr sz="1600">
                          <a:latin typeface="Times New Roman"/>
                          <a:ea typeface="Times New Roman"/>
                          <a:cs typeface="Times New Roman"/>
                          <a:sym typeface="Times New Roman"/>
                        </a:defRPr>
                      </a:pPr>
                      <a:r>
                        <a:t>Limitation</a:t>
                      </a:r>
                    </a:p>
                  </a:txBody>
                  <a:tcPr marL="45720" marR="45720" horzOverflow="overflow"/>
                </a:tc>
                <a:extLst>
                  <a:ext uri="{0D108BD9-81ED-4DB2-BD59-A6C34878D82A}">
                    <a16:rowId xmlns:a16="http://schemas.microsoft.com/office/drawing/2014/main" val="10000"/>
                  </a:ext>
                </a:extLst>
              </a:tr>
              <a:tr h="1690387">
                <a:tc>
                  <a:txBody>
                    <a:bodyPr/>
                    <a:lstStyle/>
                    <a:p>
                      <a:pPr algn="ctr">
                        <a:defRPr sz="1800"/>
                      </a:pPr>
                      <a:r>
                        <a:rPr sz="1600">
                          <a:latin typeface="Times New Roman"/>
                          <a:ea typeface="Times New Roman"/>
                          <a:cs typeface="Times New Roman"/>
                          <a:sym typeface="Times New Roman"/>
                        </a:rPr>
                        <a:t>4</a:t>
                      </a:r>
                    </a:p>
                  </a:txBody>
                  <a:tcPr marL="45720" marR="4572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[4]</a:t>
                      </a:r>
                      <a:r>
                        <a:rPr sz="1800" dirty="0" err="1"/>
                        <a:t>LexRAGBenchmarkingRetrieval</a:t>
                      </a:r>
                      <a:r>
                        <a:rPr sz="1800" dirty="0"/>
                        <a:t>-Augmented Generation in Multi-Turn Legal Consultation </a:t>
                      </a:r>
                      <a:r>
                        <a:rPr sz="1800" dirty="0" err="1"/>
                        <a:t>ConversationH</a:t>
                      </a:r>
                      <a:r>
                        <a:rPr sz="1800" dirty="0"/>
                        <a:t>. Li, Y . Chen, Y . Hu, Q. Ai, J. Chen, X. Yang, J. Yang, Y . Wu, Z. Liu, and Y . Liu, “</a:t>
                      </a:r>
                      <a:r>
                        <a:rPr sz="1800" dirty="0" err="1"/>
                        <a:t>LexRAG</a:t>
                      </a:r>
                      <a:r>
                        <a:rPr sz="1800" dirty="0"/>
                        <a:t>: Benchmarking Retrieval-Augmented Generation in Multi-Turn Legal Consultation</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Conversation,” 2025.</a:t>
                      </a:r>
                    </a:p>
                  </a:txBody>
                  <a:tcPr marL="45720" marR="45720" horzOverflow="overflow"/>
                </a:tc>
                <a:tc>
                  <a:txBody>
                    <a:bodyPr/>
                    <a:lstStyle/>
                    <a:p>
                      <a:pPr algn="ctr">
                        <a:defRPr sz="1800"/>
                      </a:pPr>
                      <a:r>
                        <a:rPr sz="1800" dirty="0" err="1">
                          <a:latin typeface="Times New Roman"/>
                          <a:ea typeface="Times New Roman"/>
                          <a:cs typeface="Times New Roman"/>
                          <a:sym typeface="Times New Roman"/>
                        </a:rPr>
                        <a:t>LexRAG</a:t>
                      </a:r>
                      <a:r>
                        <a:rPr sz="1800" dirty="0">
                          <a:latin typeface="Times New Roman"/>
                          <a:ea typeface="Times New Roman"/>
                          <a:cs typeface="Times New Roman"/>
                          <a:sym typeface="Times New Roman"/>
                        </a:rPr>
                        <a:t> evaluates different RAG systems in multi-turn legal consultation settings where the model must track conversation history.</a:t>
                      </a:r>
                    </a:p>
                  </a:txBody>
                  <a:tcPr marL="45720" marR="45720" horzOverflow="overflow"/>
                </a:tc>
                <a:tc>
                  <a:txBody>
                    <a:bodyPr/>
                    <a:lstStyle/>
                    <a:p>
                      <a:pPr algn="ctr">
                        <a:defRPr sz="1800"/>
                      </a:pPr>
                      <a:r>
                        <a:rPr sz="1800" dirty="0">
                          <a:latin typeface="Times New Roman"/>
                          <a:ea typeface="Times New Roman"/>
                          <a:cs typeface="Times New Roman"/>
                          <a:sym typeface="Times New Roman"/>
                        </a:rPr>
                        <a:t> Ensuring factual correctness becomes difficult when multiple turns introduce conflicting or vague information</a:t>
                      </a:r>
                    </a:p>
                  </a:txBody>
                  <a:tcPr marL="45720" marR="45720" horzOverflow="overflow"/>
                </a:tc>
                <a:extLst>
                  <a:ext uri="{0D108BD9-81ED-4DB2-BD59-A6C34878D82A}">
                    <a16:rowId xmlns:a16="http://schemas.microsoft.com/office/drawing/2014/main" val="10001"/>
                  </a:ext>
                </a:extLst>
              </a:tr>
              <a:tr h="1459880">
                <a:tc>
                  <a:txBody>
                    <a:bodyPr/>
                    <a:lstStyle/>
                    <a:p>
                      <a:pPr algn="ctr">
                        <a:defRPr sz="1800"/>
                      </a:pPr>
                      <a:r>
                        <a:rPr sz="1600">
                          <a:latin typeface="Times New Roman"/>
                          <a:ea typeface="Times New Roman"/>
                          <a:cs typeface="Times New Roman"/>
                          <a:sym typeface="Times New Roman"/>
                        </a:rPr>
                        <a:t>5</a:t>
                      </a:r>
                    </a:p>
                  </a:txBody>
                  <a:tcPr marL="45720" marR="4572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[5] Legal Chunking: Evaluating Methods for Effective Legal Text Retrieval A. F. Ferraris, D. </a:t>
                      </a:r>
                      <a:r>
                        <a:rPr sz="1800" dirty="0" err="1"/>
                        <a:t>Audrito</a:t>
                      </a:r>
                      <a:r>
                        <a:rPr sz="1800" dirty="0"/>
                        <a:t>, G. Siragusa, and A. </a:t>
                      </a:r>
                      <a:r>
                        <a:rPr sz="1800" dirty="0" err="1"/>
                        <a:t>Piovano</a:t>
                      </a:r>
                      <a:r>
                        <a:rPr sz="1800" dirty="0"/>
                        <a:t>,“Legal Chunking: Evaluating Methods for Effective Legal</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Text Retrieval,” 2024</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This work analyzes various chunking strategies to break long legal documents into manageable sections for retrieval.</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The ideal chunk size varies across different document types, making standardization difficult.</a:t>
                      </a:r>
                    </a:p>
                  </a:txBody>
                  <a:tcPr marL="45720" marR="45720" horzOverflow="overflow"/>
                </a:tc>
                <a:extLst>
                  <a:ext uri="{0D108BD9-81ED-4DB2-BD59-A6C34878D82A}">
                    <a16:rowId xmlns:a16="http://schemas.microsoft.com/office/drawing/2014/main" val="10002"/>
                  </a:ext>
                </a:extLst>
              </a:tr>
              <a:tr h="1690387">
                <a:tc>
                  <a:txBody>
                    <a:bodyPr/>
                    <a:lstStyle/>
                    <a:p>
                      <a:pPr algn="ctr">
                        <a:defRPr sz="1800"/>
                      </a:pPr>
                      <a:r>
                        <a:rPr sz="1600">
                          <a:latin typeface="Times New Roman"/>
                          <a:ea typeface="Times New Roman"/>
                          <a:cs typeface="Times New Roman"/>
                          <a:sym typeface="Times New Roman"/>
                        </a:rPr>
                        <a:t>6</a:t>
                      </a:r>
                    </a:p>
                  </a:txBody>
                  <a:tcPr marL="45720" marR="4572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[6] C. Cao, H. Zhu, J. Ji, Q. Sun, Z. Zhu, Y . Wu, J. Dai, Y . Yang, S. Han, and Y . Guo, “</a:t>
                      </a:r>
                      <a:r>
                        <a:rPr sz="1800" dirty="0" err="1"/>
                        <a:t>SafeLawBench</a:t>
                      </a:r>
                      <a:r>
                        <a:rPr sz="1800" dirty="0"/>
                        <a:t>:</a:t>
                      </a:r>
                    </a:p>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1800" dirty="0"/>
                        <a:t>Towards Safe Alignment of Large Language Models,” 2025.</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The paper introduces </a:t>
                      </a:r>
                      <a:r>
                        <a:rPr sz="1800" dirty="0" err="1">
                          <a:latin typeface="Times New Roman"/>
                          <a:ea typeface="Times New Roman"/>
                          <a:cs typeface="Times New Roman"/>
                          <a:sym typeface="Times New Roman"/>
                        </a:rPr>
                        <a:t>SafeLawBench</a:t>
                      </a:r>
                      <a:r>
                        <a:rPr sz="1800" dirty="0">
                          <a:latin typeface="Times New Roman"/>
                          <a:ea typeface="Times New Roman"/>
                          <a:cs typeface="Times New Roman"/>
                          <a:sym typeface="Times New Roman"/>
                        </a:rPr>
                        <a:t>, a benchmark designed to evaluate how safely large language models behave in legal settings</a:t>
                      </a:r>
                    </a:p>
                  </a:txBody>
                  <a:tcPr marL="45720" marR="45720" horzOverflow="overflow"/>
                </a:tc>
                <a:tc>
                  <a:txBody>
                    <a:bodyPr/>
                    <a:lstStyle/>
                    <a:p>
                      <a:pPr algn="ctr">
                        <a:defRPr sz="1800"/>
                      </a:pPr>
                      <a:r>
                        <a:rPr sz="1800" dirty="0">
                          <a:latin typeface="Times New Roman"/>
                          <a:ea typeface="Times New Roman"/>
                          <a:cs typeface="Times New Roman"/>
                          <a:sym typeface="Times New Roman"/>
                        </a:rPr>
                        <a:t>The benchmark focuses mainly on safety and does not evaluate retrieval quality or legal reasoning depth</a:t>
                      </a:r>
                    </a:p>
                  </a:txBody>
                  <a:tcPr marL="45720" marR="45720" horzOverflow="overflow"/>
                </a:tc>
                <a:extLst>
                  <a:ext uri="{0D108BD9-81ED-4DB2-BD59-A6C34878D82A}">
                    <a16:rowId xmlns:a16="http://schemas.microsoft.com/office/drawing/2014/main" val="10003"/>
                  </a:ext>
                </a:extLst>
              </a:tr>
            </a:tbl>
          </a:graphicData>
        </a:graphic>
      </p:graphicFrame>
      <p:pic>
        <p:nvPicPr>
          <p:cNvPr id="169" name="Picture 6" descr="Picture 6"/>
          <p:cNvPicPr>
            <a:picLocks noChangeAspect="1"/>
          </p:cNvPicPr>
          <p:nvPr/>
        </p:nvPicPr>
        <p:blipFill>
          <a:blip r:embed="rId2"/>
          <a:stretch>
            <a:fillRect/>
          </a:stretch>
        </p:blipFill>
        <p:spPr>
          <a:xfrm>
            <a:off x="11119434" y="-65988"/>
            <a:ext cx="947387" cy="894990"/>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73" name="Title 1"/>
          <p:cNvSpPr txBox="1">
            <a:spLocks noGrp="1"/>
          </p:cNvSpPr>
          <p:nvPr>
            <p:ph type="title"/>
          </p:nvPr>
        </p:nvSpPr>
        <p:spPr>
          <a:xfrm>
            <a:off x="1097280" y="286603"/>
            <a:ext cx="10058401" cy="1450757"/>
          </a:xfrm>
          <a:prstGeom prst="rect">
            <a:avLst/>
          </a:prstGeom>
        </p:spPr>
        <p:txBody>
          <a:bodyPr/>
          <a:lstStyle/>
          <a:p>
            <a:pPr>
              <a:defRPr spc="-100">
                <a:latin typeface="Times New Roman"/>
                <a:ea typeface="Times New Roman"/>
                <a:cs typeface="Times New Roman"/>
                <a:sym typeface="Times New Roman"/>
              </a:defRPr>
            </a:pPr>
            <a:br>
              <a:rPr b="1" dirty="0"/>
            </a:br>
            <a:r>
              <a:rPr sz="3200" b="1" dirty="0"/>
              <a:t>Flow Diagram</a:t>
            </a:r>
            <a:endParaRPr b="1" dirty="0"/>
          </a:p>
        </p:txBody>
      </p:sp>
      <p:sp>
        <p:nvSpPr>
          <p:cNvPr id="174"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75"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pic>
        <p:nvPicPr>
          <p:cNvPr id="176"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pic>
        <p:nvPicPr>
          <p:cNvPr id="177" name="Screenshot 2025-11-18 at 10.20.05 AM.png" descr="Screenshot 2025-11-18 at 10.20.05 AM.png"/>
          <p:cNvPicPr>
            <a:picLocks noChangeAspect="1"/>
          </p:cNvPicPr>
          <p:nvPr/>
        </p:nvPicPr>
        <p:blipFill>
          <a:blip r:embed="rId3"/>
          <a:srcRect t="1332"/>
          <a:stretch>
            <a:fillRect/>
          </a:stretch>
        </p:blipFill>
        <p:spPr>
          <a:xfrm>
            <a:off x="2536771" y="1797002"/>
            <a:ext cx="5926500" cy="4071181"/>
          </a:xfrm>
          <a:prstGeom prst="rect">
            <a:avLst/>
          </a:prstGeom>
          <a:ln w="25400">
            <a:solidFill>
              <a:srgbClr val="DDDDDD"/>
            </a:solidFill>
            <a:miter lim="400000"/>
          </a:ln>
        </p:spPr>
      </p:pic>
      <p:sp>
        <p:nvSpPr>
          <p:cNvPr id="3" name="TextBox 2">
            <a:extLst>
              <a:ext uri="{FF2B5EF4-FFF2-40B4-BE49-F238E27FC236}">
                <a16:creationId xmlns:a16="http://schemas.microsoft.com/office/drawing/2014/main" id="{FEB24DF4-576F-4976-C74D-2273106E46F0}"/>
              </a:ext>
            </a:extLst>
          </p:cNvPr>
          <p:cNvSpPr txBox="1"/>
          <p:nvPr/>
        </p:nvSpPr>
        <p:spPr>
          <a:xfrm>
            <a:off x="2692400" y="5868183"/>
            <a:ext cx="6096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rPr>
              <a:t>Fig.</a:t>
            </a:r>
            <a:r>
              <a:rPr lang="en-US" sz="1200" dirty="0">
                <a:latin typeface="Times New Roman" panose="02020603050405020304" pitchFamily="18" charset="0"/>
                <a:cs typeface="Times New Roman" panose="02020603050405020304" pitchFamily="18" charset="0"/>
              </a:rPr>
              <a:t>1: Local RAG Application Workflow</a:t>
            </a:r>
            <a:endParaRPr kumimoji="0" lang="en-IN"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80" name="Title 1"/>
          <p:cNvSpPr txBox="1">
            <a:spLocks noGrp="1"/>
          </p:cNvSpPr>
          <p:nvPr>
            <p:ph type="title"/>
          </p:nvPr>
        </p:nvSpPr>
        <p:spPr>
          <a:xfrm>
            <a:off x="1097280" y="113956"/>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Architecture                             </a:t>
            </a:r>
          </a:p>
        </p:txBody>
      </p:sp>
      <p:sp>
        <p:nvSpPr>
          <p:cNvPr id="181" name="Content Placeholder 2"/>
          <p:cNvSpPr txBox="1">
            <a:spLocks noGrp="1"/>
          </p:cNvSpPr>
          <p:nvPr>
            <p:ph type="body" idx="1"/>
          </p:nvPr>
        </p:nvSpPr>
        <p:spPr>
          <a:xfrm>
            <a:off x="1097280" y="1845734"/>
            <a:ext cx="10058401" cy="4274045"/>
          </a:xfrm>
          <a:prstGeom prst="rect">
            <a:avLst/>
          </a:prstGeom>
        </p:spPr>
        <p:txBody>
          <a:bodyPr/>
          <a:lstStyle>
            <a:lvl1pPr marL="0" indent="0" algn="just" defTabSz="365759">
              <a:spcBef>
                <a:spcPts val="400"/>
              </a:spcBef>
              <a:buSzTx/>
              <a:buNone/>
              <a:defRPr sz="1100">
                <a:latin typeface="Times New Roman"/>
                <a:ea typeface="Times New Roman"/>
                <a:cs typeface="Times New Roman"/>
                <a:sym typeface="Times New Roman"/>
              </a:defRPr>
            </a:lvl1pPr>
          </a:lstStyle>
          <a:p>
            <a:br>
              <a:rPr dirty="0"/>
            </a:br>
            <a:endParaRPr dirty="0"/>
          </a:p>
        </p:txBody>
      </p:sp>
      <p:sp>
        <p:nvSpPr>
          <p:cNvPr id="183"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84"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pic>
        <p:nvPicPr>
          <p:cNvPr id="185"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pic>
        <p:nvPicPr>
          <p:cNvPr id="186" name="Screenshot 2025-11-17 at 10.21.55 PM.png" descr="Screenshot 2025-11-17 at 10.21.55 PM.png"/>
          <p:cNvPicPr>
            <a:picLocks noChangeAspect="1"/>
          </p:cNvPicPr>
          <p:nvPr/>
        </p:nvPicPr>
        <p:blipFill>
          <a:blip r:embed="rId3"/>
          <a:srcRect b="14924"/>
          <a:stretch>
            <a:fillRect/>
          </a:stretch>
        </p:blipFill>
        <p:spPr>
          <a:xfrm>
            <a:off x="2281603" y="1769785"/>
            <a:ext cx="6569045" cy="3858856"/>
          </a:xfrm>
          <a:prstGeom prst="rect">
            <a:avLst/>
          </a:prstGeom>
          <a:ln w="12700">
            <a:miter lim="400000"/>
          </a:ln>
        </p:spPr>
      </p:pic>
      <p:sp>
        <p:nvSpPr>
          <p:cNvPr id="2" name="TextBox 1">
            <a:extLst>
              <a:ext uri="{FF2B5EF4-FFF2-40B4-BE49-F238E27FC236}">
                <a16:creationId xmlns:a16="http://schemas.microsoft.com/office/drawing/2014/main" id="{E928C985-2621-3C15-C79C-CA4AA4D249D7}"/>
              </a:ext>
            </a:extLst>
          </p:cNvPr>
          <p:cNvSpPr txBox="1"/>
          <p:nvPr/>
        </p:nvSpPr>
        <p:spPr>
          <a:xfrm>
            <a:off x="3947197" y="5649049"/>
            <a:ext cx="3237855" cy="276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rPr>
              <a:t>Fig.2: safety &amp; trust  Layer </a:t>
            </a:r>
            <a:endParaRPr kumimoji="0" lang="en-IN"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89" name="Title 1"/>
          <p:cNvSpPr txBox="1">
            <a:spLocks noGrp="1"/>
          </p:cNvSpPr>
          <p:nvPr>
            <p:ph type="title"/>
          </p:nvPr>
        </p:nvSpPr>
        <p:spPr>
          <a:xfrm>
            <a:off x="1097280" y="575035"/>
            <a:ext cx="10058401" cy="1162325"/>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Architecture                             </a:t>
            </a:r>
          </a:p>
        </p:txBody>
      </p:sp>
      <p:sp>
        <p:nvSpPr>
          <p:cNvPr id="190" name="Content Placeholder 2"/>
          <p:cNvSpPr txBox="1">
            <a:spLocks noGrp="1"/>
          </p:cNvSpPr>
          <p:nvPr>
            <p:ph type="body" idx="1"/>
          </p:nvPr>
        </p:nvSpPr>
        <p:spPr>
          <a:xfrm>
            <a:off x="1097280" y="1845733"/>
            <a:ext cx="10058401" cy="5331817"/>
          </a:xfrm>
          <a:prstGeom prst="rect">
            <a:avLst/>
          </a:prstGeom>
        </p:spPr>
        <p:txBody>
          <a:bodyPr/>
          <a:lstStyle/>
          <a:p>
            <a:pPr marL="0" indent="0" algn="just">
              <a:buSzTx/>
              <a:buNone/>
              <a:defRPr sz="2800" b="1">
                <a:latin typeface="Times New Roman"/>
                <a:ea typeface="Times New Roman"/>
                <a:cs typeface="Times New Roman"/>
                <a:sym typeface="Times New Roman"/>
              </a:defRPr>
            </a:pPr>
            <a:r>
              <a:rPr sz="2400" dirty="0"/>
              <a:t>Detailed Implementation (Short):</a:t>
            </a:r>
          </a:p>
          <a:p>
            <a:pPr algn="just">
              <a:buFont typeface="Arial"/>
              <a:buChar char="•"/>
              <a:defRPr sz="2800" b="1">
                <a:latin typeface="Times New Roman"/>
                <a:ea typeface="Times New Roman"/>
                <a:cs typeface="Times New Roman"/>
                <a:sym typeface="Times New Roman"/>
              </a:defRPr>
            </a:pPr>
            <a:r>
              <a:rPr sz="2400" dirty="0"/>
              <a:t> Frontend:</a:t>
            </a:r>
            <a:r>
              <a:rPr sz="2400" b="0" dirty="0"/>
              <a:t> Takes user input and displays final </a:t>
            </a:r>
            <a:r>
              <a:rPr sz="2400" b="0" dirty="0" err="1"/>
              <a:t>summarisation</a:t>
            </a:r>
            <a:r>
              <a:rPr sz="2400" b="0" dirty="0"/>
              <a:t> results.</a:t>
            </a:r>
          </a:p>
          <a:p>
            <a:pPr algn="just">
              <a:buFont typeface="Arial"/>
              <a:buChar char="•"/>
              <a:defRPr sz="2800" b="1">
                <a:latin typeface="Times New Roman"/>
                <a:ea typeface="Times New Roman"/>
                <a:cs typeface="Times New Roman"/>
                <a:sym typeface="Times New Roman"/>
              </a:defRPr>
            </a:pPr>
            <a:r>
              <a:rPr sz="2400" dirty="0"/>
              <a:t> Backend: </a:t>
            </a:r>
            <a:r>
              <a:rPr sz="2400" b="0" dirty="0" err="1"/>
              <a:t>Streamlit</a:t>
            </a:r>
            <a:r>
              <a:rPr sz="2400" b="0" dirty="0"/>
              <a:t> sends query</a:t>
            </a:r>
            <a:r>
              <a:rPr sz="2400" dirty="0"/>
              <a:t> </a:t>
            </a:r>
            <a:r>
              <a:rPr sz="2400" b="0" dirty="0"/>
              <a:t>to RAG pipeline.</a:t>
            </a:r>
          </a:p>
          <a:p>
            <a:pPr algn="just">
              <a:buFont typeface="Arial"/>
              <a:buChar char="•"/>
              <a:defRPr sz="2800" b="1">
                <a:latin typeface="Times New Roman"/>
                <a:ea typeface="Times New Roman"/>
                <a:cs typeface="Times New Roman"/>
                <a:sym typeface="Times New Roman"/>
              </a:defRPr>
            </a:pPr>
            <a:r>
              <a:rPr sz="2400" dirty="0"/>
              <a:t>Engine:</a:t>
            </a:r>
            <a:r>
              <a:rPr sz="2400" b="0" dirty="0"/>
              <a:t>  llama 3.1 </a:t>
            </a:r>
            <a:endParaRPr lang="en-IN" sz="2400" b="0" dirty="0"/>
          </a:p>
          <a:p>
            <a:pPr algn="just">
              <a:buFont typeface="Arial"/>
              <a:buChar char="•"/>
              <a:defRPr sz="2800" b="1">
                <a:latin typeface="Times New Roman"/>
                <a:ea typeface="Times New Roman"/>
                <a:cs typeface="Times New Roman"/>
                <a:sym typeface="Times New Roman"/>
              </a:defRPr>
            </a:pPr>
            <a:r>
              <a:rPr sz="2400" dirty="0"/>
              <a:t>Database/SNP File: </a:t>
            </a:r>
            <a:r>
              <a:rPr sz="2400" b="0" dirty="0"/>
              <a:t>Chroma BD(vector database).</a:t>
            </a:r>
          </a:p>
          <a:p>
            <a:pPr algn="just">
              <a:buFont typeface="Arial"/>
              <a:buChar char="•"/>
              <a:defRPr sz="2800" b="1">
                <a:latin typeface="Times New Roman"/>
                <a:ea typeface="Times New Roman"/>
                <a:cs typeface="Times New Roman"/>
                <a:sym typeface="Times New Roman"/>
              </a:defRPr>
            </a:pPr>
            <a:r>
              <a:rPr sz="2400" dirty="0"/>
              <a:t> Output Module: </a:t>
            </a:r>
            <a:r>
              <a:rPr sz="2400" b="0" dirty="0" err="1"/>
              <a:t>Summari</a:t>
            </a:r>
            <a:r>
              <a:rPr lang="en-IN" sz="2400" b="0" dirty="0"/>
              <a:t>z</a:t>
            </a:r>
            <a:r>
              <a:rPr sz="2400" b="0" dirty="0" err="1"/>
              <a:t>ation</a:t>
            </a:r>
            <a:r>
              <a:rPr sz="2400" b="0" dirty="0"/>
              <a:t> of the query </a:t>
            </a:r>
          </a:p>
          <a:p>
            <a:pPr marL="0" indent="0" algn="just">
              <a:buSzTx/>
              <a:buNone/>
              <a:defRPr sz="2800">
                <a:latin typeface="Times New Roman"/>
                <a:ea typeface="Times New Roman"/>
                <a:cs typeface="Times New Roman"/>
                <a:sym typeface="Times New Roman"/>
              </a:defRPr>
            </a:pPr>
            <a:br>
              <a:rPr dirty="0"/>
            </a:br>
            <a:br>
              <a:rPr dirty="0"/>
            </a:br>
            <a:endParaRPr dirty="0"/>
          </a:p>
        </p:txBody>
      </p:sp>
      <p:sp>
        <p:nvSpPr>
          <p:cNvPr id="191"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92" name="Slide Number Placeholder 5"/>
          <p:cNvSpPr txBox="1">
            <a:spLocks noGrp="1"/>
          </p:cNvSpPr>
          <p:nvPr>
            <p:ph type="sldNum" sz="quarter" idx="4294967295"/>
          </p:nvPr>
        </p:nvSpPr>
        <p:spPr>
          <a:xfrm>
            <a:off x="11043974" y="6528092"/>
            <a:ext cx="168507"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9</a:t>
            </a:fld>
            <a:endParaRPr/>
          </a:p>
        </p:txBody>
      </p:sp>
      <p:pic>
        <p:nvPicPr>
          <p:cNvPr id="193"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196"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Architecture                         </a:t>
            </a:r>
          </a:p>
        </p:txBody>
      </p:sp>
      <p:sp>
        <p:nvSpPr>
          <p:cNvPr id="197" name="Content Placeholder 2"/>
          <p:cNvSpPr txBox="1">
            <a:spLocks noGrp="1"/>
          </p:cNvSpPr>
          <p:nvPr>
            <p:ph type="body" idx="1"/>
          </p:nvPr>
        </p:nvSpPr>
        <p:spPr>
          <a:xfrm>
            <a:off x="1097280" y="1845734"/>
            <a:ext cx="10058401" cy="4023360"/>
          </a:xfrm>
          <a:prstGeom prst="rect">
            <a:avLst/>
          </a:prstGeom>
        </p:spPr>
        <p:txBody>
          <a:bodyPr/>
          <a:lstStyle/>
          <a:p>
            <a:pPr marL="91438" indent="-91438" algn="just">
              <a:defRPr sz="2400" b="1">
                <a:latin typeface="Times New Roman"/>
                <a:ea typeface="Times New Roman"/>
                <a:cs typeface="Times New Roman"/>
                <a:sym typeface="Times New Roman"/>
              </a:defRPr>
            </a:pPr>
            <a:r>
              <a:rPr dirty="0"/>
              <a:t>Internal Architecture</a:t>
            </a:r>
          </a:p>
          <a:p>
            <a:pPr marL="91438" indent="-91438" algn="just">
              <a:defRPr sz="2400">
                <a:latin typeface="Times New Roman"/>
                <a:ea typeface="Times New Roman"/>
                <a:cs typeface="Times New Roman"/>
                <a:sym typeface="Times New Roman"/>
              </a:defRPr>
            </a:pPr>
            <a:r>
              <a:rPr dirty="0" err="1"/>
              <a:t>Streamlit</a:t>
            </a:r>
            <a:r>
              <a:rPr dirty="0"/>
              <a:t> UI → Query Embedded → RAG pipeline → Similarity Search(Chroma DB) → llama 3.1 → </a:t>
            </a:r>
            <a:r>
              <a:rPr dirty="0" err="1"/>
              <a:t>Summarised</a:t>
            </a:r>
            <a:r>
              <a:rPr dirty="0"/>
              <a:t> output.</a:t>
            </a:r>
          </a:p>
          <a:p>
            <a:pPr marL="91438" indent="-91438" algn="just">
              <a:defRPr sz="2400">
                <a:latin typeface="Times New Roman"/>
                <a:ea typeface="Times New Roman"/>
                <a:cs typeface="Times New Roman"/>
                <a:sym typeface="Times New Roman"/>
              </a:defRPr>
            </a:pPr>
            <a:r>
              <a:rPr dirty="0"/>
              <a:t>RAG pipeline uses Chroma DB(vector Database) to search for similar chunks.</a:t>
            </a:r>
          </a:p>
        </p:txBody>
      </p:sp>
      <p:sp>
        <p:nvSpPr>
          <p:cNvPr id="198"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199"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pic>
        <p:nvPicPr>
          <p:cNvPr id="200"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03"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Methodology</a:t>
            </a:r>
          </a:p>
        </p:txBody>
      </p:sp>
      <p:sp>
        <p:nvSpPr>
          <p:cNvPr id="204" name="Content Placeholder 2"/>
          <p:cNvSpPr txBox="1">
            <a:spLocks noGrp="1"/>
          </p:cNvSpPr>
          <p:nvPr>
            <p:ph type="body" idx="1"/>
          </p:nvPr>
        </p:nvSpPr>
        <p:spPr>
          <a:xfrm>
            <a:off x="1097280" y="1958854"/>
            <a:ext cx="9564435" cy="3716081"/>
          </a:xfrm>
          <a:prstGeom prst="rect">
            <a:avLst/>
          </a:prstGeom>
        </p:spPr>
        <p:txBody>
          <a:bodyPr>
            <a:normAutofit fontScale="85000" lnSpcReduction="10000"/>
          </a:bodyPr>
          <a:lstStyle/>
          <a:p>
            <a:pPr marL="91438" indent="-91438" algn="just">
              <a:defRPr sz="2400" b="1">
                <a:latin typeface="Times New Roman"/>
                <a:ea typeface="Times New Roman"/>
                <a:cs typeface="Times New Roman"/>
                <a:sym typeface="Times New Roman"/>
              </a:defRPr>
            </a:pPr>
            <a:r>
              <a:rPr dirty="0"/>
              <a:t>Steps Followed</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Parse legal PDFs with layout-aware tools to preserve headings and structure.</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Extract semantic metadata before chunking to prevent loss of semantic hierarchy.</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Apply </a:t>
            </a:r>
            <a:r>
              <a:rPr sz="2400" b="1" dirty="0"/>
              <a:t>hybrid chunking</a:t>
            </a:r>
            <a:r>
              <a:rPr sz="2400" dirty="0"/>
              <a:t> ( contextual + semantic ) to maintain coherent legal meaning.</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Build </a:t>
            </a:r>
            <a:r>
              <a:rPr sz="2400" b="1" dirty="0"/>
              <a:t>dual indexes</a:t>
            </a:r>
            <a:r>
              <a:rPr sz="2400" dirty="0"/>
              <a:t> (dense + sparse) to capture semantic and lexical relevance.</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Implement </a:t>
            </a:r>
            <a:r>
              <a:rPr sz="2400" b="1" dirty="0"/>
              <a:t>hybrid retrieval + reranking</a:t>
            </a:r>
            <a:r>
              <a:rPr sz="2400" dirty="0"/>
              <a:t> for high-precision evidence selection.</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Feed top-ranked chunks to </a:t>
            </a:r>
            <a:r>
              <a:rPr sz="2400" b="1" dirty="0"/>
              <a:t>Llama 3.1</a:t>
            </a:r>
            <a:r>
              <a:rPr sz="2400" dirty="0"/>
              <a:t>, fine-tuned on the Indian Legal Corpus.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Produce structured summaries with paragraph-level citations.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Generate two versions of summary depending on user expertise</a:t>
            </a:r>
          </a:p>
        </p:txBody>
      </p:sp>
      <p:sp>
        <p:nvSpPr>
          <p:cNvPr id="205"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06"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pic>
        <p:nvPicPr>
          <p:cNvPr id="207"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cap="all">
                <a:solidFill>
                  <a:srgbClr val="FFFFFF"/>
                </a:solidFill>
                <a:latin typeface="+mn-lt"/>
                <a:ea typeface="+mn-ea"/>
                <a:cs typeface="+mn-cs"/>
                <a:sym typeface="Calibri"/>
              </a:defRPr>
            </a:pPr>
            <a:r>
              <a:rPr dirty="0"/>
              <a:t> Acharya Institute of technology </a:t>
            </a:r>
          </a:p>
        </p:txBody>
      </p:sp>
      <p:sp>
        <p:nvSpPr>
          <p:cNvPr id="210" name="Title 1"/>
          <p:cNvSpPr txBox="1">
            <a:spLocks noGrp="1"/>
          </p:cNvSpPr>
          <p:nvPr>
            <p:ph type="title"/>
          </p:nvPr>
        </p:nvSpPr>
        <p:spPr>
          <a:xfrm>
            <a:off x="1097280" y="286603"/>
            <a:ext cx="10058401" cy="1450757"/>
          </a:xfrm>
          <a:prstGeom prst="rect">
            <a:avLst/>
          </a:prstGeom>
        </p:spPr>
        <p:txBody>
          <a:bodyPr/>
          <a:lstStyle>
            <a:lvl1pPr>
              <a:defRPr spc="-100">
                <a:latin typeface="Times New Roman"/>
                <a:ea typeface="Times New Roman"/>
                <a:cs typeface="Times New Roman"/>
                <a:sym typeface="Times New Roman"/>
              </a:defRPr>
            </a:lvl1pPr>
          </a:lstStyle>
          <a:p>
            <a:r>
              <a:rPr sz="3200" b="1" dirty="0"/>
              <a:t>Methodology </a:t>
            </a:r>
            <a:r>
              <a:rPr b="1" dirty="0"/>
              <a:t> </a:t>
            </a:r>
            <a:r>
              <a:rPr dirty="0"/>
              <a:t>                                   </a:t>
            </a:r>
          </a:p>
        </p:txBody>
      </p:sp>
      <p:sp>
        <p:nvSpPr>
          <p:cNvPr id="211" name="Content Placeholder 2"/>
          <p:cNvSpPr txBox="1">
            <a:spLocks noGrp="1"/>
          </p:cNvSpPr>
          <p:nvPr>
            <p:ph type="body" idx="1"/>
          </p:nvPr>
        </p:nvSpPr>
        <p:spPr>
          <a:xfrm>
            <a:off x="1097280" y="1845734"/>
            <a:ext cx="10058401" cy="4023360"/>
          </a:xfrm>
          <a:prstGeom prst="rect">
            <a:avLst/>
          </a:prstGeom>
        </p:spPr>
        <p:txBody>
          <a:bodyPr>
            <a:normAutofit/>
          </a:bodyPr>
          <a:lstStyle/>
          <a:p>
            <a:pPr marL="0" indent="0" algn="just">
              <a:buSzTx/>
              <a:buNone/>
              <a:defRPr sz="2400" b="1">
                <a:latin typeface="Times New Roman"/>
                <a:ea typeface="Times New Roman"/>
                <a:cs typeface="Times New Roman"/>
                <a:sym typeface="Times New Roman"/>
              </a:defRPr>
            </a:pPr>
            <a:r>
              <a:rPr sz="2400" dirty="0"/>
              <a:t>Model Used</a:t>
            </a:r>
          </a:p>
          <a:p>
            <a:pPr marL="0" indent="0" algn="just">
              <a:buSzTx/>
              <a:buNone/>
              <a:defRPr sz="2400" b="1">
                <a:latin typeface="Times New Roman"/>
                <a:ea typeface="Times New Roman"/>
                <a:cs typeface="Times New Roman"/>
                <a:sym typeface="Times New Roman"/>
              </a:defRPr>
            </a:pPr>
            <a:r>
              <a:rPr sz="2400" dirty="0"/>
              <a:t>llama 3.1 Model</a:t>
            </a:r>
            <a:endParaRPr lang="en-IN" sz="2400" dirty="0"/>
          </a:p>
          <a:p>
            <a:pPr marL="0" indent="0" algn="just">
              <a:buSzTx/>
              <a:buNone/>
              <a:defRPr sz="2400" b="1">
                <a:latin typeface="Times New Roman"/>
                <a:ea typeface="Times New Roman"/>
                <a:cs typeface="Times New Roman"/>
                <a:sym typeface="Times New Roman"/>
              </a:defRPr>
            </a:pPr>
            <a:r>
              <a:rPr sz="2400" dirty="0"/>
              <a:t>Tools</a:t>
            </a:r>
          </a:p>
          <a:p>
            <a:pPr marL="91438" indent="-91438" algn="just">
              <a:buFont typeface="Arial"/>
              <a:buChar char="•"/>
              <a:defRPr sz="2400" b="1">
                <a:latin typeface="Times New Roman"/>
                <a:ea typeface="Times New Roman"/>
                <a:cs typeface="Times New Roman"/>
                <a:sym typeface="Times New Roman"/>
              </a:defRPr>
            </a:pPr>
            <a:r>
              <a:rPr sz="2400" dirty="0"/>
              <a:t> Python</a:t>
            </a:r>
            <a:r>
              <a:rPr sz="2400" b="0" dirty="0"/>
              <a:t>, </a:t>
            </a:r>
            <a:r>
              <a:rPr sz="2400" dirty="0" err="1"/>
              <a:t>Streamlit</a:t>
            </a:r>
            <a:r>
              <a:rPr sz="2400" b="0" dirty="0"/>
              <a:t>,  </a:t>
            </a:r>
            <a:r>
              <a:rPr sz="2400" dirty="0"/>
              <a:t>VS Code</a:t>
            </a:r>
            <a:r>
              <a:rPr sz="2400" b="0" dirty="0"/>
              <a:t>, </a:t>
            </a:r>
            <a:r>
              <a:rPr sz="2400" dirty="0"/>
              <a:t>GitHub</a:t>
            </a:r>
          </a:p>
          <a:p>
            <a:pPr marL="91438" indent="-91438" algn="just">
              <a:buFont typeface="Arial"/>
              <a:buChar char="•"/>
              <a:defRPr sz="2400">
                <a:latin typeface="Times New Roman"/>
                <a:ea typeface="Times New Roman"/>
                <a:cs typeface="Times New Roman"/>
                <a:sym typeface="Times New Roman"/>
              </a:defRPr>
            </a:pPr>
            <a:r>
              <a:rPr sz="2400" b="1" dirty="0"/>
              <a:t> Data handling/testing tools</a:t>
            </a:r>
            <a:r>
              <a:rPr sz="2400" dirty="0"/>
              <a:t>:</a:t>
            </a:r>
            <a:r>
              <a:rPr lang="en-IN" sz="2400" dirty="0"/>
              <a:t> </a:t>
            </a:r>
            <a:r>
              <a:rPr sz="2400" b="1" dirty="0"/>
              <a:t>Hugging Face, Google Colab, GitHub</a:t>
            </a:r>
          </a:p>
        </p:txBody>
      </p:sp>
      <p:sp>
        <p:nvSpPr>
          <p:cNvPr id="212"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13"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pic>
        <p:nvPicPr>
          <p:cNvPr id="214"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17" name="Title 1"/>
          <p:cNvSpPr txBox="1">
            <a:spLocks noGrp="1"/>
          </p:cNvSpPr>
          <p:nvPr>
            <p:ph type="title"/>
          </p:nvPr>
        </p:nvSpPr>
        <p:spPr>
          <a:xfrm>
            <a:off x="1097280" y="286603"/>
            <a:ext cx="10058401" cy="1450757"/>
          </a:xfrm>
          <a:prstGeom prst="rect">
            <a:avLst/>
          </a:prstGeom>
        </p:spPr>
        <p:txBody>
          <a:bodyPr/>
          <a:lstStyle>
            <a:lvl1pPr>
              <a:defRPr spc="-100">
                <a:latin typeface="Times New Roman"/>
                <a:ea typeface="Times New Roman"/>
                <a:cs typeface="Times New Roman"/>
                <a:sym typeface="Times New Roman"/>
              </a:defRPr>
            </a:lvl1pPr>
          </a:lstStyle>
          <a:p>
            <a:r>
              <a:t>Methodology                                      </a:t>
            </a:r>
          </a:p>
        </p:txBody>
      </p:sp>
      <p:sp>
        <p:nvSpPr>
          <p:cNvPr id="218" name="Content Placeholder 2"/>
          <p:cNvSpPr txBox="1">
            <a:spLocks noGrp="1"/>
          </p:cNvSpPr>
          <p:nvPr>
            <p:ph type="body" idx="1"/>
          </p:nvPr>
        </p:nvSpPr>
        <p:spPr>
          <a:xfrm>
            <a:off x="1097280" y="1845733"/>
            <a:ext cx="10058401" cy="4358423"/>
          </a:xfrm>
          <a:prstGeom prst="rect">
            <a:avLst/>
          </a:prstGeom>
        </p:spPr>
        <p:txBody>
          <a:bodyPr/>
          <a:lstStyle/>
          <a:p>
            <a:pPr marL="0" indent="0" algn="just">
              <a:buSzTx/>
              <a:buNone/>
              <a:defRPr sz="2400" b="1">
                <a:latin typeface="Times New Roman"/>
                <a:ea typeface="Times New Roman"/>
                <a:cs typeface="Times New Roman"/>
                <a:sym typeface="Times New Roman"/>
              </a:defRPr>
            </a:pPr>
            <a:r>
              <a:t>Libraries </a:t>
            </a:r>
          </a:p>
          <a:p>
            <a:pPr marL="91438" indent="-91438" algn="just">
              <a:buFont typeface="Arial"/>
              <a:buChar char="•"/>
              <a:defRPr sz="2400" b="1">
                <a:latin typeface="Times New Roman"/>
                <a:ea typeface="Times New Roman"/>
                <a:cs typeface="Times New Roman"/>
                <a:sym typeface="Times New Roman"/>
              </a:defRPr>
            </a:pPr>
            <a:r>
              <a:t>NLP/LLM</a:t>
            </a:r>
            <a:r>
              <a:rPr b="0"/>
              <a:t>: Transformers, LangChain, Sentence Transformers, LlamaIndex</a:t>
            </a:r>
          </a:p>
          <a:p>
            <a:pPr marL="91438" indent="-91438" algn="just">
              <a:buFont typeface="Arial"/>
              <a:buChar char="•"/>
              <a:defRPr sz="2400" b="1">
                <a:latin typeface="Times New Roman"/>
                <a:ea typeface="Times New Roman"/>
                <a:cs typeface="Times New Roman"/>
                <a:sym typeface="Times New Roman"/>
              </a:defRPr>
            </a:pPr>
            <a:r>
              <a:t> Streamlit </a:t>
            </a:r>
            <a:r>
              <a:rPr b="0"/>
              <a:t> – frontend  and backend interface.</a:t>
            </a:r>
          </a:p>
          <a:p>
            <a:pPr marL="0" indent="0" algn="just">
              <a:buSzTx/>
              <a:buNone/>
              <a:defRPr sz="2400" b="1">
                <a:latin typeface="Times New Roman"/>
                <a:ea typeface="Times New Roman"/>
                <a:cs typeface="Times New Roman"/>
                <a:sym typeface="Times New Roman"/>
              </a:defRPr>
            </a:pPr>
            <a:r>
              <a:t>Frameworks</a:t>
            </a:r>
          </a:p>
          <a:p>
            <a:pPr marL="91438" indent="-91438" algn="just">
              <a:buFont typeface="Arial"/>
              <a:buChar char="•"/>
              <a:defRPr sz="2400" b="1">
                <a:latin typeface="Times New Roman"/>
                <a:ea typeface="Times New Roman"/>
                <a:cs typeface="Times New Roman"/>
                <a:sym typeface="Times New Roman"/>
              </a:defRPr>
            </a:pPr>
            <a:r>
              <a:t> Streamlit  and python </a:t>
            </a:r>
            <a:r>
              <a:rPr b="0"/>
              <a:t>for backend processing</a:t>
            </a:r>
          </a:p>
          <a:p>
            <a:pPr marL="91438" indent="-91438" algn="just">
              <a:buFont typeface="Arial"/>
              <a:buChar char="•"/>
              <a:defRPr sz="2400" b="1">
                <a:latin typeface="Times New Roman"/>
                <a:ea typeface="Times New Roman"/>
                <a:cs typeface="Times New Roman"/>
                <a:sym typeface="Times New Roman"/>
              </a:defRPr>
            </a:pPr>
            <a:r>
              <a:t> Streamlit</a:t>
            </a:r>
            <a:r>
              <a:rPr b="0"/>
              <a:t> for frontend UI</a:t>
            </a:r>
          </a:p>
        </p:txBody>
      </p:sp>
      <p:sp>
        <p:nvSpPr>
          <p:cNvPr id="219"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20"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a:p>
        </p:txBody>
      </p:sp>
      <p:pic>
        <p:nvPicPr>
          <p:cNvPr id="221"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24" name="Title 1"/>
          <p:cNvSpPr txBox="1">
            <a:spLocks noGrp="1"/>
          </p:cNvSpPr>
          <p:nvPr>
            <p:ph type="title"/>
          </p:nvPr>
        </p:nvSpPr>
        <p:spPr>
          <a:xfrm>
            <a:off x="1097280" y="286603"/>
            <a:ext cx="10058401" cy="1450757"/>
          </a:xfrm>
          <a:prstGeom prst="rect">
            <a:avLst/>
          </a:prstGeom>
        </p:spPr>
        <p:txBody>
          <a:bodyPr/>
          <a:lstStyle>
            <a:lvl1pPr>
              <a:defRPr spc="-100">
                <a:latin typeface="Times New Roman"/>
                <a:ea typeface="Times New Roman"/>
                <a:cs typeface="Times New Roman"/>
                <a:sym typeface="Times New Roman"/>
              </a:defRPr>
            </a:lvl1pPr>
          </a:lstStyle>
          <a:p>
            <a:r>
              <a:rPr sz="3200" b="1" dirty="0"/>
              <a:t>Methodology</a:t>
            </a:r>
            <a:r>
              <a:rPr sz="3200" dirty="0"/>
              <a:t> </a:t>
            </a:r>
            <a:r>
              <a:rPr dirty="0"/>
              <a:t>                                    </a:t>
            </a:r>
          </a:p>
        </p:txBody>
      </p:sp>
      <p:sp>
        <p:nvSpPr>
          <p:cNvPr id="225"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26"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pic>
        <p:nvPicPr>
          <p:cNvPr id="227" name="Picture 10" descr="Picture 10"/>
          <p:cNvPicPr>
            <a:picLocks noChangeAspect="1"/>
          </p:cNvPicPr>
          <p:nvPr/>
        </p:nvPicPr>
        <p:blipFill>
          <a:blip r:embed="rId2"/>
          <a:stretch>
            <a:fillRect/>
          </a:stretch>
        </p:blipFill>
        <p:spPr>
          <a:xfrm>
            <a:off x="9619988" y="286603"/>
            <a:ext cx="1535693" cy="1450757"/>
          </a:xfrm>
          <a:prstGeom prst="rect">
            <a:avLst/>
          </a:prstGeom>
          <a:ln w="12700">
            <a:miter lim="400000"/>
          </a:ln>
        </p:spPr>
      </p:pic>
      <p:pic>
        <p:nvPicPr>
          <p:cNvPr id="228" name="Screenshot 2025-11-18 at 10.26.18 AM.png" descr="Screenshot 2025-11-18 at 10.26.18 AM.png"/>
          <p:cNvPicPr>
            <a:picLocks noChangeAspect="1"/>
          </p:cNvPicPr>
          <p:nvPr/>
        </p:nvPicPr>
        <p:blipFill>
          <a:blip r:embed="rId3"/>
          <a:stretch>
            <a:fillRect/>
          </a:stretch>
        </p:blipFill>
        <p:spPr>
          <a:xfrm>
            <a:off x="2977715" y="1911644"/>
            <a:ext cx="4731367" cy="4057574"/>
          </a:xfrm>
          <a:prstGeom prst="rect">
            <a:avLst/>
          </a:prstGeom>
          <a:ln w="12700">
            <a:miter lim="400000"/>
          </a:ln>
        </p:spPr>
      </p:pic>
      <p:sp>
        <p:nvSpPr>
          <p:cNvPr id="3" name="TextBox 2">
            <a:extLst>
              <a:ext uri="{FF2B5EF4-FFF2-40B4-BE49-F238E27FC236}">
                <a16:creationId xmlns:a16="http://schemas.microsoft.com/office/drawing/2014/main" id="{59FDBD63-C147-605B-43E6-D3BB1EFE9C84}"/>
              </a:ext>
            </a:extLst>
          </p:cNvPr>
          <p:cNvSpPr txBox="1"/>
          <p:nvPr/>
        </p:nvSpPr>
        <p:spPr>
          <a:xfrm>
            <a:off x="2489200" y="5942380"/>
            <a:ext cx="6096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rPr>
              <a:t>Fig.3: Pipeline process </a:t>
            </a:r>
            <a:endParaRPr kumimoji="0" lang="en-IN"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46" name="Title 1"/>
          <p:cNvSpPr txBox="1">
            <a:spLocks noGrp="1"/>
          </p:cNvSpPr>
          <p:nvPr>
            <p:ph type="title"/>
          </p:nvPr>
        </p:nvSpPr>
        <p:spPr>
          <a:xfrm>
            <a:off x="1305353" y="1123476"/>
            <a:ext cx="2426552" cy="474168"/>
          </a:xfrm>
          <a:prstGeom prst="rect">
            <a:avLst/>
          </a:prstGeom>
        </p:spPr>
        <p:txBody>
          <a:bodyPr>
            <a:normAutofit fontScale="90000"/>
          </a:bodyPr>
          <a:lstStyle>
            <a:lvl1pPr>
              <a:defRPr spc="-100">
                <a:latin typeface="Times New Roman"/>
                <a:ea typeface="Times New Roman"/>
                <a:cs typeface="Times New Roman"/>
                <a:sym typeface="Times New Roman"/>
              </a:defRPr>
            </a:lvl1pPr>
          </a:lstStyle>
          <a:p>
            <a:r>
              <a:rPr sz="3200" b="1" dirty="0"/>
              <a:t>System Testing</a:t>
            </a:r>
          </a:p>
        </p:txBody>
      </p:sp>
      <p:sp>
        <p:nvSpPr>
          <p:cNvPr id="247"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48"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pic>
        <p:nvPicPr>
          <p:cNvPr id="249" name="Picture 6" descr="Picture 6"/>
          <p:cNvPicPr>
            <a:picLocks noChangeAspect="1"/>
          </p:cNvPicPr>
          <p:nvPr/>
        </p:nvPicPr>
        <p:blipFill>
          <a:blip r:embed="rId2"/>
          <a:stretch>
            <a:fillRect/>
          </a:stretch>
        </p:blipFill>
        <p:spPr>
          <a:xfrm>
            <a:off x="10979605" y="101399"/>
            <a:ext cx="1063700" cy="1004869"/>
          </a:xfrm>
          <a:prstGeom prst="rect">
            <a:avLst/>
          </a:prstGeom>
          <a:ln w="12700">
            <a:miter lim="400000"/>
          </a:ln>
        </p:spPr>
      </p:pic>
      <p:sp>
        <p:nvSpPr>
          <p:cNvPr id="250" name="Processing Query: Summarize the Adv. Ritesh Varma vs Ministry of Digital Affairs (2029) involving constitutional challenge to algorithmic blacklisting of citizens.Retrieve all real cases related to:…"/>
          <p:cNvSpPr txBox="1">
            <a:spLocks noGrp="1"/>
          </p:cNvSpPr>
          <p:nvPr>
            <p:ph type="body" idx="1"/>
          </p:nvPr>
        </p:nvSpPr>
        <p:spPr>
          <a:xfrm>
            <a:off x="1143000" y="1955115"/>
            <a:ext cx="10058401" cy="4514426"/>
          </a:xfrm>
          <a:prstGeom prst="rect">
            <a:avLst/>
          </a:prstGeom>
        </p:spPr>
        <p:txBody>
          <a:bodyPr>
            <a:normAutofit fontScale="77500" lnSpcReduction="20000"/>
          </a:bodyPr>
          <a:lstStyle/>
          <a:p>
            <a:pPr marL="36575" indent="-36575" defTabSz="365760">
              <a:spcBef>
                <a:spcPts val="400"/>
              </a:spcBef>
              <a:defRPr sz="1600">
                <a:latin typeface="Times New Roman"/>
                <a:ea typeface="Times New Roman"/>
                <a:cs typeface="Times New Roman"/>
                <a:sym typeface="Times New Roman"/>
              </a:defRPr>
            </a:pPr>
            <a:r>
              <a:rPr sz="2400" b="1" dirty="0"/>
              <a:t>Processing Query</a:t>
            </a:r>
            <a:r>
              <a:rPr sz="2400" dirty="0"/>
              <a:t>: Summarize the Adv. Ritesh Varma vs Ministry of Digital Affairs (2029) involving constitutional challenge to algorithmic blacklisting of </a:t>
            </a:r>
            <a:r>
              <a:rPr sz="2400" dirty="0" err="1"/>
              <a:t>citizens.Retrieve</a:t>
            </a:r>
            <a:r>
              <a:rPr sz="2400" dirty="0"/>
              <a:t> all real cases related to:    </a:t>
            </a:r>
          </a:p>
          <a:p>
            <a:pPr marL="36575" indent="-36575" defTabSz="365760">
              <a:spcBef>
                <a:spcPts val="400"/>
              </a:spcBef>
              <a:defRPr sz="1600">
                <a:latin typeface="Times New Roman"/>
                <a:ea typeface="Times New Roman"/>
                <a:cs typeface="Times New Roman"/>
                <a:sym typeface="Times New Roman"/>
              </a:defRPr>
            </a:pPr>
            <a:r>
              <a:rPr sz="2400" dirty="0"/>
              <a:t>•algorithmic transparency        </a:t>
            </a:r>
          </a:p>
          <a:p>
            <a:pPr marL="36575" indent="-36575" defTabSz="365760">
              <a:spcBef>
                <a:spcPts val="400"/>
              </a:spcBef>
              <a:defRPr sz="1600">
                <a:latin typeface="Times New Roman"/>
                <a:ea typeface="Times New Roman"/>
                <a:cs typeface="Times New Roman"/>
                <a:sym typeface="Times New Roman"/>
              </a:defRPr>
            </a:pPr>
            <a:r>
              <a:rPr sz="2400" dirty="0"/>
              <a:t>•blacklisting rules      </a:t>
            </a:r>
          </a:p>
          <a:p>
            <a:pPr marL="36575" indent="-36575" defTabSz="365760">
              <a:spcBef>
                <a:spcPts val="400"/>
              </a:spcBef>
              <a:defRPr sz="1600">
                <a:latin typeface="Times New Roman"/>
                <a:ea typeface="Times New Roman"/>
                <a:cs typeface="Times New Roman"/>
                <a:sym typeface="Times New Roman"/>
              </a:defRPr>
            </a:pPr>
            <a:r>
              <a:rPr sz="2400" dirty="0"/>
              <a:t>• Article 14 non-arbitrariness    </a:t>
            </a:r>
          </a:p>
          <a:p>
            <a:pPr marL="36575" indent="-36575" defTabSz="365760">
              <a:spcBef>
                <a:spcPts val="400"/>
              </a:spcBef>
              <a:defRPr sz="1600">
                <a:latin typeface="Times New Roman"/>
                <a:ea typeface="Times New Roman"/>
                <a:cs typeface="Times New Roman"/>
                <a:sym typeface="Times New Roman"/>
              </a:defRPr>
            </a:pPr>
            <a:r>
              <a:rPr sz="2400" dirty="0"/>
              <a:t>• </a:t>
            </a:r>
            <a:r>
              <a:rPr sz="2400" dirty="0" err="1"/>
              <a:t>audi</a:t>
            </a:r>
            <a:r>
              <a:rPr sz="2400" dirty="0"/>
              <a:t> alteram partem</a:t>
            </a:r>
          </a:p>
          <a:p>
            <a:pPr marL="36575" indent="-36575" defTabSz="365760">
              <a:spcBef>
                <a:spcPts val="400"/>
              </a:spcBef>
              <a:defRPr sz="1600">
                <a:latin typeface="Times New Roman"/>
                <a:ea typeface="Times New Roman"/>
                <a:cs typeface="Times New Roman"/>
                <a:sym typeface="Times New Roman"/>
              </a:defRPr>
            </a:pPr>
            <a:endParaRPr sz="2400" dirty="0"/>
          </a:p>
          <a:p>
            <a:pPr marL="36575" indent="-36575" defTabSz="365760">
              <a:spcBef>
                <a:spcPts val="400"/>
              </a:spcBef>
              <a:defRPr sz="1600">
                <a:latin typeface="Times New Roman"/>
                <a:ea typeface="Times New Roman"/>
                <a:cs typeface="Times New Roman"/>
                <a:sym typeface="Times New Roman"/>
              </a:defRPr>
            </a:pPr>
            <a:r>
              <a:rPr sz="2400" dirty="0"/>
              <a:t>[LLM RESPONSE]</a:t>
            </a:r>
          </a:p>
          <a:p>
            <a:pPr marL="36575" indent="-36575" defTabSz="365760">
              <a:spcBef>
                <a:spcPts val="400"/>
              </a:spcBef>
              <a:defRPr sz="1600">
                <a:latin typeface="Times New Roman"/>
                <a:ea typeface="Times New Roman"/>
                <a:cs typeface="Times New Roman"/>
                <a:sym typeface="Times New Roman"/>
              </a:defRPr>
            </a:pPr>
            <a:r>
              <a:rPr sz="2400" dirty="0"/>
              <a:t>[FICTIONAL ANALYSIS: ]</a:t>
            </a:r>
          </a:p>
          <a:p>
            <a:pPr marL="36575" indent="-36575" defTabSz="365760">
              <a:spcBef>
                <a:spcPts val="400"/>
              </a:spcBef>
              <a:defRPr sz="1600">
                <a:latin typeface="Times New Roman"/>
                <a:ea typeface="Times New Roman"/>
                <a:cs typeface="Times New Roman"/>
                <a:sym typeface="Times New Roman"/>
              </a:defRPr>
            </a:pPr>
            <a:endParaRPr sz="2400" dirty="0"/>
          </a:p>
          <a:p>
            <a:pPr marL="36575" indent="-36575" defTabSz="365760">
              <a:spcBef>
                <a:spcPts val="400"/>
              </a:spcBef>
              <a:defRPr sz="1600">
                <a:latin typeface="Times New Roman"/>
                <a:ea typeface="Times New Roman"/>
                <a:cs typeface="Times New Roman"/>
                <a:sym typeface="Times New Roman"/>
              </a:defRPr>
            </a:pPr>
            <a:r>
              <a:rPr sz="2400" dirty="0"/>
              <a:t>Scenario Status: Hypothetical Scenario - Not a Real Precedent.</a:t>
            </a:r>
          </a:p>
          <a:p>
            <a:pPr marL="36575" indent="-36575" defTabSz="365760">
              <a:spcBef>
                <a:spcPts val="400"/>
              </a:spcBef>
              <a:defRPr sz="1600">
                <a:latin typeface="Times New Roman"/>
                <a:ea typeface="Times New Roman"/>
                <a:cs typeface="Times New Roman"/>
                <a:sym typeface="Times New Roman"/>
              </a:defRPr>
            </a:pPr>
            <a:endParaRPr sz="2400" dirty="0"/>
          </a:p>
          <a:p>
            <a:pPr marL="36575" indent="-36575" defTabSz="365760">
              <a:spcBef>
                <a:spcPts val="400"/>
              </a:spcBef>
              <a:defRPr sz="1600">
                <a:latin typeface="Times New Roman"/>
                <a:ea typeface="Times New Roman"/>
                <a:cs typeface="Times New Roman"/>
                <a:sym typeface="Times New Roman"/>
              </a:defRPr>
            </a:pPr>
            <a:r>
              <a:rPr sz="2400" dirty="0"/>
              <a:t>Scenario Issues:</a:t>
            </a:r>
          </a:p>
          <a:p>
            <a:pPr marL="36575" indent="-36575" defTabSz="365760">
              <a:spcBef>
                <a:spcPts val="400"/>
              </a:spcBef>
              <a:defRPr sz="1600">
                <a:latin typeface="Times New Roman"/>
                <a:ea typeface="Times New Roman"/>
                <a:cs typeface="Times New Roman"/>
                <a:sym typeface="Times New Roman"/>
              </a:defRPr>
            </a:pPr>
            <a:endParaRPr sz="2400" dirty="0"/>
          </a:p>
          <a:p>
            <a:pPr marL="140368" indent="-140368" defTabSz="365760">
              <a:spcBef>
                <a:spcPts val="400"/>
              </a:spcBef>
              <a:buClrTx/>
              <a:buFontTx/>
              <a:buChar char="•"/>
              <a:defRPr sz="1600">
                <a:latin typeface="Times New Roman"/>
                <a:ea typeface="Times New Roman"/>
                <a:cs typeface="Times New Roman"/>
                <a:sym typeface="Times New Roman"/>
              </a:defRPr>
            </a:pPr>
            <a:r>
              <a:rPr sz="2400" dirty="0"/>
              <a:t>Constitutional challenge to algorithmic blacklisting of citizens;</a:t>
            </a:r>
          </a:p>
          <a:p>
            <a:pPr marL="140368" indent="-140368" defTabSz="365760">
              <a:spcBef>
                <a:spcPts val="400"/>
              </a:spcBef>
              <a:buClrTx/>
              <a:buFontTx/>
              <a:buChar char="•"/>
              <a:defRPr sz="1600">
                <a:latin typeface="Times New Roman"/>
                <a:ea typeface="Times New Roman"/>
                <a:cs typeface="Times New Roman"/>
                <a:sym typeface="Times New Roman"/>
              </a:defRPr>
            </a:pPr>
            <a:r>
              <a:rPr sz="2400" dirty="0"/>
              <a:t>Algorithmic transparency and fairness in decision-making processes;</a:t>
            </a:r>
          </a:p>
          <a:p>
            <a:pPr marL="140368" indent="-140368" defTabSz="365760">
              <a:spcBef>
                <a:spcPts val="400"/>
              </a:spcBef>
              <a:buClrTx/>
              <a:buFontTx/>
              <a:buChar char="•"/>
              <a:defRPr sz="1600">
                <a:latin typeface="Times New Roman"/>
                <a:ea typeface="Times New Roman"/>
                <a:cs typeface="Times New Roman"/>
                <a:sym typeface="Times New Roman"/>
              </a:defRPr>
            </a:pPr>
            <a:r>
              <a:rPr sz="2400" dirty="0"/>
              <a:t>Compliance with Article 14 (non-arbitrariness) and </a:t>
            </a:r>
            <a:r>
              <a:rPr sz="2400" dirty="0" err="1"/>
              <a:t>audi</a:t>
            </a:r>
            <a:r>
              <a:rPr sz="2400" dirty="0"/>
              <a:t> alteram partem principles;</a:t>
            </a:r>
          </a:p>
          <a:p>
            <a:pPr marL="36575" indent="-36575" defTabSz="365760">
              <a:spcBef>
                <a:spcPts val="400"/>
              </a:spcBef>
              <a:defRPr sz="1600">
                <a:latin typeface="Times New Roman"/>
                <a:ea typeface="Times New Roman"/>
                <a:cs typeface="Times New Roman"/>
                <a:sym typeface="Times New Roman"/>
              </a:defRPr>
            </a:pPr>
            <a:endParaRPr dirty="0"/>
          </a:p>
          <a:p>
            <a:pPr marL="36575" indent="-36575" defTabSz="365760">
              <a:spcBef>
                <a:spcPts val="400"/>
              </a:spcBef>
              <a:defRPr sz="1600">
                <a:latin typeface="Times New Roman"/>
                <a:ea typeface="Times New Roman"/>
                <a:cs typeface="Times New Roman"/>
                <a:sym typeface="Times New Roman"/>
              </a:defRPr>
            </a:pPr>
            <a:endParaRPr dirty="0"/>
          </a:p>
          <a:p>
            <a:pPr marL="36575" indent="-36575" defTabSz="365760">
              <a:spcBef>
                <a:spcPts val="400"/>
              </a:spcBef>
              <a:defRPr sz="1400">
                <a:latin typeface="Times New Roman"/>
                <a:ea typeface="Times New Roman"/>
                <a:cs typeface="Times New Roman"/>
                <a:sym typeface="Times New Roman"/>
              </a:defRPr>
            </a:pPr>
            <a:endParaRPr dirty="0"/>
          </a:p>
          <a:p>
            <a:pPr marL="36575" indent="-36575" defTabSz="365760">
              <a:spcBef>
                <a:spcPts val="400"/>
              </a:spcBef>
              <a:defRPr sz="800">
                <a:latin typeface="Times New Roman"/>
                <a:ea typeface="Times New Roman"/>
                <a:cs typeface="Times New Roman"/>
                <a:sym typeface="Times New Roman"/>
              </a:defRPr>
            </a:pPr>
            <a:endParaRPr dirty="0"/>
          </a:p>
          <a:p>
            <a:pPr marL="36575" indent="-36575" defTabSz="365760">
              <a:spcBef>
                <a:spcPts val="400"/>
              </a:spcBef>
              <a:defRPr sz="800">
                <a:latin typeface="Times New Roman"/>
                <a:ea typeface="Times New Roman"/>
                <a:cs typeface="Times New Roman"/>
                <a:sym typeface="Times New Roman"/>
              </a:defRPr>
            </a:pPr>
            <a:endParaRPr dirty="0"/>
          </a:p>
          <a:p>
            <a:pPr marL="36575" indent="-36575" defTabSz="365760">
              <a:spcBef>
                <a:spcPts val="400"/>
              </a:spcBef>
              <a:defRPr sz="800">
                <a:latin typeface="Times New Roman"/>
                <a:ea typeface="Times New Roman"/>
                <a:cs typeface="Times New Roman"/>
                <a:sym typeface="Times New Roman"/>
              </a:defRPr>
            </a:pPr>
            <a:endParaRPr dirty="0"/>
          </a:p>
          <a:p>
            <a:pPr marL="36575" indent="-36575" defTabSz="365760">
              <a:spcBef>
                <a:spcPts val="400"/>
              </a:spcBef>
              <a:defRPr sz="800">
                <a:latin typeface="Times New Roman"/>
                <a:ea typeface="Times New Roman"/>
                <a:cs typeface="Times New Roman"/>
                <a:sym typeface="Times New Roman"/>
              </a:defRPr>
            </a:pPr>
            <a:endParaRPr dirty="0"/>
          </a:p>
          <a:p>
            <a:pPr marL="36575" indent="-36575" defTabSz="365760">
              <a:spcBef>
                <a:spcPts val="400"/>
              </a:spcBef>
              <a:defRPr sz="800">
                <a:latin typeface="Times New Roman"/>
                <a:ea typeface="Times New Roman"/>
                <a:cs typeface="Times New Roman"/>
                <a:sym typeface="Times New Roman"/>
              </a:defRPr>
            </a:pPr>
            <a:endParaRPr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53" name="Title 1"/>
          <p:cNvSpPr txBox="1">
            <a:spLocks noGrp="1"/>
          </p:cNvSpPr>
          <p:nvPr>
            <p:ph type="title"/>
          </p:nvPr>
        </p:nvSpPr>
        <p:spPr>
          <a:xfrm>
            <a:off x="616513" y="269148"/>
            <a:ext cx="2833697" cy="577863"/>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Testing</a:t>
            </a:r>
          </a:p>
        </p:txBody>
      </p:sp>
      <p:sp>
        <p:nvSpPr>
          <p:cNvPr id="254"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55"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16</a:t>
            </a:fld>
            <a:endParaRPr/>
          </a:p>
        </p:txBody>
      </p:sp>
      <p:pic>
        <p:nvPicPr>
          <p:cNvPr id="256" name="Picture 6" descr="Picture 6"/>
          <p:cNvPicPr>
            <a:picLocks noChangeAspect="1"/>
          </p:cNvPicPr>
          <p:nvPr/>
        </p:nvPicPr>
        <p:blipFill>
          <a:blip r:embed="rId2"/>
          <a:stretch>
            <a:fillRect/>
          </a:stretch>
        </p:blipFill>
        <p:spPr>
          <a:xfrm>
            <a:off x="11212480" y="211188"/>
            <a:ext cx="734403" cy="693785"/>
          </a:xfrm>
          <a:prstGeom prst="rect">
            <a:avLst/>
          </a:prstGeom>
          <a:ln w="12700">
            <a:miter lim="400000"/>
          </a:ln>
        </p:spPr>
      </p:pic>
      <p:sp>
        <p:nvSpPr>
          <p:cNvPr id="257" name="Factual Matrix:…"/>
          <p:cNvSpPr txBox="1">
            <a:spLocks noGrp="1"/>
          </p:cNvSpPr>
          <p:nvPr>
            <p:ph type="body" idx="1"/>
          </p:nvPr>
        </p:nvSpPr>
        <p:spPr>
          <a:xfrm>
            <a:off x="616513" y="1356570"/>
            <a:ext cx="10058401" cy="4383869"/>
          </a:xfrm>
          <a:prstGeom prst="rect">
            <a:avLst/>
          </a:prstGeom>
        </p:spPr>
        <p:txBody>
          <a:bodyPr>
            <a:normAutofit fontScale="40000" lnSpcReduction="20000"/>
          </a:bodyPr>
          <a:lstStyle/>
          <a:p>
            <a:pPr marL="36575" indent="-36575" defTabSz="365760">
              <a:spcBef>
                <a:spcPts val="400"/>
              </a:spcBef>
              <a:defRPr sz="1560">
                <a:latin typeface="Times New Roman"/>
                <a:ea typeface="Times New Roman"/>
                <a:cs typeface="Times New Roman"/>
                <a:sym typeface="Times New Roman"/>
              </a:defRPr>
            </a:pPr>
            <a:r>
              <a:rPr sz="4400" b="1" dirty="0"/>
              <a:t>Factual Matrix:</a:t>
            </a:r>
          </a:p>
          <a:p>
            <a:pPr marL="36575" indent="-36575" defTabSz="365760">
              <a:spcBef>
                <a:spcPts val="400"/>
              </a:spcBef>
              <a:defRPr sz="1560">
                <a:latin typeface="Times New Roman"/>
                <a:ea typeface="Times New Roman"/>
                <a:cs typeface="Times New Roman"/>
                <a:sym typeface="Times New Roman"/>
              </a:defRPr>
            </a:pPr>
            <a:r>
              <a:rPr sz="4400" dirty="0"/>
              <a:t>The scenario involves Adv. Ritesh Varma, a citizen who was blacklisted by the Ministry of Digital Affairs using an algorithm that purportedly assessed his digital footprint and deemed him a potential threat to national security. The algorithmic system did not provide any human oversight or review before making its decision, leading to a lack of transparency and accountability.</a:t>
            </a:r>
          </a:p>
          <a:p>
            <a:pPr marL="36575" indent="-36575" defTabSz="365760">
              <a:spcBef>
                <a:spcPts val="400"/>
              </a:spcBef>
              <a:defRPr sz="1560">
                <a:latin typeface="Times New Roman"/>
                <a:ea typeface="Times New Roman"/>
                <a:cs typeface="Times New Roman"/>
                <a:sym typeface="Times New Roman"/>
              </a:defRPr>
            </a:pPr>
            <a:endParaRPr sz="4400" dirty="0"/>
          </a:p>
          <a:p>
            <a:pPr marL="36575" indent="-36575" defTabSz="365760">
              <a:spcBef>
                <a:spcPts val="400"/>
              </a:spcBef>
              <a:defRPr sz="1560">
                <a:latin typeface="Times New Roman"/>
                <a:ea typeface="Times New Roman"/>
                <a:cs typeface="Times New Roman"/>
                <a:sym typeface="Times New Roman"/>
              </a:defRPr>
            </a:pPr>
            <a:r>
              <a:rPr sz="4400" b="1" dirty="0"/>
              <a:t>Applied Legal Principles:</a:t>
            </a:r>
          </a:p>
          <a:p>
            <a:pPr marL="36575" indent="-36575" defTabSz="365760">
              <a:spcBef>
                <a:spcPts val="400"/>
              </a:spcBef>
              <a:defRPr sz="1560">
                <a:latin typeface="Times New Roman"/>
                <a:ea typeface="Times New Roman"/>
                <a:cs typeface="Times New Roman"/>
                <a:sym typeface="Times New Roman"/>
              </a:defRPr>
            </a:pPr>
            <a:r>
              <a:rPr sz="4400" dirty="0"/>
              <a:t>In this hypothetical scenario, the Court would apply the principles of Article 14 (non-arbitrariness) by examining whether the algorithmic blacklisting was arbitrary, unreasonable, or unfair. The Court would also consider the </a:t>
            </a:r>
            <a:r>
              <a:rPr sz="4400" dirty="0" err="1"/>
              <a:t>audi</a:t>
            </a:r>
            <a:r>
              <a:rPr sz="4400" dirty="0"/>
              <a:t> alteram partem principle, requiring that the decision-maker hear the other side and provide an opportunity for the citizen to respond before making a decision.</a:t>
            </a:r>
          </a:p>
          <a:p>
            <a:pPr marL="36575" indent="-36575" defTabSz="365760">
              <a:spcBef>
                <a:spcPts val="400"/>
              </a:spcBef>
              <a:defRPr sz="1560">
                <a:latin typeface="Times New Roman"/>
                <a:ea typeface="Times New Roman"/>
                <a:cs typeface="Times New Roman"/>
                <a:sym typeface="Times New Roman"/>
              </a:defRPr>
            </a:pPr>
            <a:endParaRPr sz="4400" dirty="0"/>
          </a:p>
          <a:p>
            <a:pPr marL="36575" indent="-36575" defTabSz="365760">
              <a:spcBef>
                <a:spcPts val="400"/>
              </a:spcBef>
              <a:defRPr sz="1560">
                <a:latin typeface="Times New Roman"/>
                <a:ea typeface="Times New Roman"/>
                <a:cs typeface="Times New Roman"/>
                <a:sym typeface="Times New Roman"/>
              </a:defRPr>
            </a:pPr>
            <a:r>
              <a:rPr sz="4400" dirty="0"/>
              <a:t>To determine whether the algorithmic blacklisting was unconstitutional, the Court would evaluate the following factors:</a:t>
            </a:r>
          </a:p>
          <a:p>
            <a:pPr marL="36575" indent="-36575" defTabSz="365760">
              <a:spcBef>
                <a:spcPts val="400"/>
              </a:spcBef>
              <a:defRPr sz="1560">
                <a:latin typeface="Times New Roman"/>
                <a:ea typeface="Times New Roman"/>
                <a:cs typeface="Times New Roman"/>
                <a:sym typeface="Times New Roman"/>
              </a:defRPr>
            </a:pPr>
            <a:endParaRPr sz="4400" dirty="0"/>
          </a:p>
          <a:p>
            <a:pPr marL="36575" indent="-36575" defTabSz="365760">
              <a:spcBef>
                <a:spcPts val="400"/>
              </a:spcBef>
              <a:defRPr sz="1560">
                <a:latin typeface="Times New Roman"/>
                <a:ea typeface="Times New Roman"/>
                <a:cs typeface="Times New Roman"/>
                <a:sym typeface="Times New Roman"/>
              </a:defRPr>
            </a:pPr>
            <a:r>
              <a:rPr sz="4400" dirty="0"/>
              <a:t>1. Whether the algorithmic system was designed to provide transparency and accountability in its decision-making process;</a:t>
            </a:r>
          </a:p>
          <a:p>
            <a:pPr marL="36575" indent="-36575" defTabSz="365760">
              <a:spcBef>
                <a:spcPts val="400"/>
              </a:spcBef>
              <a:defRPr sz="1560">
                <a:latin typeface="Times New Roman"/>
                <a:ea typeface="Times New Roman"/>
                <a:cs typeface="Times New Roman"/>
                <a:sym typeface="Times New Roman"/>
              </a:defRPr>
            </a:pPr>
            <a:r>
              <a:rPr sz="4400" dirty="0"/>
              <a:t>2. Whether the algorithmic system provided opportunities for human oversight and review of its decisions;</a:t>
            </a:r>
          </a:p>
          <a:p>
            <a:pPr marL="36575" indent="-36575" defTabSz="365760">
              <a:spcBef>
                <a:spcPts val="400"/>
              </a:spcBef>
              <a:defRPr sz="1560">
                <a:latin typeface="Times New Roman"/>
                <a:ea typeface="Times New Roman"/>
                <a:cs typeface="Times New Roman"/>
                <a:sym typeface="Times New Roman"/>
              </a:defRPr>
            </a:pPr>
            <a:r>
              <a:rPr sz="4400" dirty="0"/>
              <a:t>3. Whether the algorithmic system was biased towards certain individuals or groups based on irrelevant factors such as race, gender, or socioeconomic status.</a:t>
            </a:r>
          </a:p>
          <a:p>
            <a:pPr marL="36575" indent="-36575" defTabSz="365760">
              <a:spcBef>
                <a:spcPts val="400"/>
              </a:spcBef>
              <a:defRPr sz="1560">
                <a:latin typeface="Times New Roman"/>
                <a:ea typeface="Times New Roman"/>
                <a:cs typeface="Times New Roman"/>
                <a:sym typeface="Times New Roman"/>
              </a:defRPr>
            </a:pPr>
            <a:endParaRPr sz="1500" dirty="0"/>
          </a:p>
          <a:p>
            <a:pPr marL="36575" indent="-36575" defTabSz="365760">
              <a:spcBef>
                <a:spcPts val="400"/>
              </a:spcBef>
              <a:defRPr sz="1560">
                <a:latin typeface="Times New Roman"/>
                <a:ea typeface="Times New Roman"/>
                <a:cs typeface="Times New Roman"/>
                <a:sym typeface="Times New Roman"/>
              </a:defRPr>
            </a:pPr>
            <a:endParaRPr sz="1500" dirty="0"/>
          </a:p>
          <a:p>
            <a:pPr marL="36575" indent="-36575" defTabSz="365760">
              <a:spcBef>
                <a:spcPts val="400"/>
              </a:spcBef>
              <a:defRPr sz="1560">
                <a:latin typeface="Times New Roman"/>
                <a:ea typeface="Times New Roman"/>
                <a:cs typeface="Times New Roman"/>
                <a:sym typeface="Times New Roman"/>
              </a:defRPr>
            </a:pPr>
            <a:endParaRPr sz="1500" dirty="0"/>
          </a:p>
          <a:p>
            <a:pPr marL="36575" indent="-36575" defTabSz="365760">
              <a:spcBef>
                <a:spcPts val="400"/>
              </a:spcBef>
              <a:defRPr sz="1560">
                <a:latin typeface="Times New Roman"/>
                <a:ea typeface="Times New Roman"/>
                <a:cs typeface="Times New Roman"/>
                <a:sym typeface="Times New Roman"/>
              </a:defRPr>
            </a:pPr>
            <a:endParaRPr sz="1500" dirty="0"/>
          </a:p>
          <a:p>
            <a:pPr marL="36575" indent="-36575" defTabSz="365760">
              <a:spcBef>
                <a:spcPts val="400"/>
              </a:spcBef>
              <a:defRPr sz="1560">
                <a:latin typeface="Times New Roman"/>
                <a:ea typeface="Times New Roman"/>
                <a:cs typeface="Times New Roman"/>
                <a:sym typeface="Times New Roman"/>
              </a:defRPr>
            </a:pPr>
            <a:endParaRPr sz="150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cap="all">
                <a:solidFill>
                  <a:srgbClr val="FFFFFF"/>
                </a:solidFill>
                <a:latin typeface="+mn-lt"/>
                <a:ea typeface="+mn-ea"/>
                <a:cs typeface="+mn-cs"/>
                <a:sym typeface="Calibri"/>
              </a:defRPr>
            </a:pPr>
            <a:r>
              <a:rPr dirty="0"/>
              <a:t>Acharya Institute of technology </a:t>
            </a:r>
          </a:p>
        </p:txBody>
      </p:sp>
      <p:sp>
        <p:nvSpPr>
          <p:cNvPr id="260"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Testing</a:t>
            </a:r>
          </a:p>
        </p:txBody>
      </p:sp>
      <p:sp>
        <p:nvSpPr>
          <p:cNvPr id="261"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62"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p:pic>
        <p:nvPicPr>
          <p:cNvPr id="263"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
        <p:nvSpPr>
          <p:cNvPr id="264" name="Plausible Ratio Decidendi:…"/>
          <p:cNvSpPr txBox="1">
            <a:spLocks noGrp="1"/>
          </p:cNvSpPr>
          <p:nvPr>
            <p:ph type="body" idx="1"/>
          </p:nvPr>
        </p:nvSpPr>
        <p:spPr>
          <a:xfrm>
            <a:off x="1097280" y="1845734"/>
            <a:ext cx="10058401" cy="4383869"/>
          </a:xfrm>
          <a:prstGeom prst="rect">
            <a:avLst/>
          </a:prstGeom>
        </p:spPr>
        <p:txBody>
          <a:bodyPr>
            <a:normAutofit/>
          </a:bodyPr>
          <a:lstStyle/>
          <a:p>
            <a:pPr marL="62178" indent="-62178" defTabSz="621791">
              <a:spcBef>
                <a:spcPts val="800"/>
              </a:spcBef>
              <a:defRPr sz="2040"/>
            </a:pPr>
            <a:endParaRPr sz="1600" dirty="0">
              <a:latin typeface="Times New Roman" panose="02020603050405020304" pitchFamily="18" charset="0"/>
              <a:cs typeface="Times New Roman" panose="02020603050405020304" pitchFamily="18" charset="0"/>
            </a:endParaRPr>
          </a:p>
          <a:p>
            <a:pPr marL="62178" indent="-62178" defTabSz="621791">
              <a:spcBef>
                <a:spcPts val="800"/>
              </a:spcBef>
              <a:defRPr sz="2040"/>
            </a:pPr>
            <a:r>
              <a:rPr sz="2400" b="1" dirty="0">
                <a:latin typeface="Times New Roman" panose="02020603050405020304" pitchFamily="18" charset="0"/>
                <a:cs typeface="Times New Roman" panose="02020603050405020304" pitchFamily="18" charset="0"/>
              </a:rPr>
              <a:t>Plausible Ratio Decidendi:</a:t>
            </a:r>
          </a:p>
          <a:p>
            <a:pPr marL="62178" indent="-62178" defTabSz="621791">
              <a:spcBef>
                <a:spcPts val="800"/>
              </a:spcBef>
              <a:defRPr sz="2040"/>
            </a:pPr>
            <a:r>
              <a:rPr sz="2400" dirty="0">
                <a:latin typeface="Times New Roman" panose="02020603050405020304" pitchFamily="18" charset="0"/>
                <a:cs typeface="Times New Roman" panose="02020603050405020304" pitchFamily="18" charset="0"/>
              </a:rPr>
              <a:t>In this hypothetical scenario, the Court might hold that an algorithmic blacklisting system must provide transparency and accountability in its decision-making process by ensuring human oversight and review of its decisions. The Court might also emphasize that any decision-making process must be guided by clear and objective criteria that are free from bias and arbitrary discretion.</a:t>
            </a:r>
          </a:p>
          <a:p>
            <a:pPr marL="62178" indent="-62178" defTabSz="621791">
              <a:spcBef>
                <a:spcPts val="800"/>
              </a:spcBef>
              <a:defRPr sz="2040"/>
            </a:pPr>
            <a:endParaRPr sz="2400" dirty="0">
              <a:latin typeface="Times New Roman" panose="02020603050405020304" pitchFamily="18" charset="0"/>
              <a:cs typeface="Times New Roman" panose="02020603050405020304" pitchFamily="18" charset="0"/>
            </a:endParaRPr>
          </a:p>
          <a:p>
            <a:pPr marL="62178" indent="-62178" defTabSz="621791">
              <a:spcBef>
                <a:spcPts val="800"/>
              </a:spcBef>
              <a:defRPr sz="2040"/>
            </a:pPr>
            <a:r>
              <a:rPr sz="2400" dirty="0">
                <a:latin typeface="Times New Roman" panose="02020603050405020304" pitchFamily="18" charset="0"/>
                <a:cs typeface="Times New Roman" panose="02020603050405020304" pitchFamily="18" charset="0"/>
              </a:rPr>
              <a:t>Ultimately, the Court would likely strike down the algorithmic blacklisting system as unconstitutional if it fails to provide transparency, accountability, or fair procedures for citizens to challenge and appeal the decisions made by the algorithm.</a:t>
            </a:r>
          </a:p>
          <a:p>
            <a:pPr marL="62178" indent="-62178" defTabSz="621791">
              <a:spcBef>
                <a:spcPts val="800"/>
              </a:spcBef>
              <a:defRPr sz="2040"/>
            </a:pPr>
            <a:endParaRPr sz="16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Title 1"/>
          <p:cNvSpPr txBox="1">
            <a:spLocks noGrp="1"/>
          </p:cNvSpPr>
          <p:nvPr>
            <p:ph type="title"/>
          </p:nvPr>
        </p:nvSpPr>
        <p:spPr>
          <a:xfrm>
            <a:off x="560936" y="678729"/>
            <a:ext cx="2860994" cy="535369"/>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System Testing                                  </a:t>
            </a:r>
          </a:p>
        </p:txBody>
      </p:sp>
      <p:pic>
        <p:nvPicPr>
          <p:cNvPr id="238" name="Picture 3" descr="Picture 3"/>
          <p:cNvPicPr>
            <a:picLocks noChangeAspect="1"/>
          </p:cNvPicPr>
          <p:nvPr/>
        </p:nvPicPr>
        <p:blipFill>
          <a:blip r:embed="rId2"/>
          <a:stretch>
            <a:fillRect/>
          </a:stretch>
        </p:blipFill>
        <p:spPr>
          <a:xfrm>
            <a:off x="10749564" y="93049"/>
            <a:ext cx="1239938" cy="1171360"/>
          </a:xfrm>
          <a:prstGeom prst="rect">
            <a:avLst/>
          </a:prstGeom>
          <a:ln w="12700">
            <a:miter lim="400000"/>
          </a:ln>
        </p:spPr>
      </p:pic>
      <p:sp>
        <p:nvSpPr>
          <p:cNvPr id="239" name="TextBox 4"/>
          <p:cNvSpPr txBox="1"/>
          <p:nvPr/>
        </p:nvSpPr>
        <p:spPr>
          <a:xfrm>
            <a:off x="3553869" y="6440131"/>
            <a:ext cx="5689930"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sz="900">
                <a:solidFill>
                  <a:srgbClr val="FFFFFF"/>
                </a:solidFill>
                <a:latin typeface="+mn-lt"/>
                <a:ea typeface="+mn-ea"/>
                <a:cs typeface="+mn-cs"/>
                <a:sym typeface="Calibri"/>
              </a:defRPr>
            </a:pPr>
            <a:r>
              <a:rPr dirty="0"/>
              <a:t>Department of </a:t>
            </a:r>
            <a:r>
              <a:rPr lang="en-US" dirty="0"/>
              <a:t>COMPUTER SCIENCE ENGINEERING (DATA SCIENCE)</a:t>
            </a:r>
            <a:r>
              <a:rPr dirty="0"/>
              <a:t> </a:t>
            </a:r>
          </a:p>
          <a:p>
            <a:pPr algn="ctr">
              <a:defRPr sz="900">
                <a:solidFill>
                  <a:srgbClr val="FFFFFF"/>
                </a:solidFill>
                <a:latin typeface="+mn-lt"/>
                <a:ea typeface="+mn-ea"/>
                <a:cs typeface="+mn-cs"/>
                <a:sym typeface="Calibri"/>
              </a:defRPr>
            </a:pPr>
            <a:r>
              <a:rPr dirty="0"/>
              <a:t>Acharya Institute of technology </a:t>
            </a:r>
          </a:p>
        </p:txBody>
      </p:sp>
      <p:sp>
        <p:nvSpPr>
          <p:cNvPr id="240" name="TextBox 5"/>
          <p:cNvSpPr txBox="1"/>
          <p:nvPr/>
        </p:nvSpPr>
        <p:spPr>
          <a:xfrm>
            <a:off x="1142999" y="6509378"/>
            <a:ext cx="1141526" cy="2059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900">
                <a:solidFill>
                  <a:srgbClr val="FFFFFF"/>
                </a:solidFill>
                <a:latin typeface="+mn-lt"/>
                <a:ea typeface="+mn-ea"/>
                <a:cs typeface="+mn-cs"/>
                <a:sym typeface="Calibri"/>
              </a:defRPr>
            </a:lvl1pPr>
          </a:lstStyle>
          <a:p>
            <a:r>
              <a:t>November 17, 2025</a:t>
            </a:r>
          </a:p>
        </p:txBody>
      </p:sp>
      <p:sp>
        <p:nvSpPr>
          <p:cNvPr id="241" name="TextBox 6"/>
          <p:cNvSpPr txBox="1"/>
          <p:nvPr/>
        </p:nvSpPr>
        <p:spPr>
          <a:xfrm>
            <a:off x="10969358" y="6509378"/>
            <a:ext cx="400175" cy="228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000">
                <a:solidFill>
                  <a:srgbClr val="FFFFFF"/>
                </a:solidFill>
                <a:latin typeface="+mn-lt"/>
                <a:ea typeface="+mn-ea"/>
                <a:cs typeface="+mn-cs"/>
                <a:sym typeface="Calibri"/>
              </a:defRPr>
            </a:lvl1pPr>
          </a:lstStyle>
          <a:p>
            <a:r>
              <a:t>14</a:t>
            </a:r>
          </a:p>
        </p:txBody>
      </p:sp>
      <p:pic>
        <p:nvPicPr>
          <p:cNvPr id="243" name="_- visual selection (2).png" descr="_- visual selection (2).png"/>
          <p:cNvPicPr>
            <a:picLocks noChangeAspect="1"/>
          </p:cNvPicPr>
          <p:nvPr/>
        </p:nvPicPr>
        <p:blipFill>
          <a:blip r:embed="rId3"/>
          <a:srcRect r="6284" b="1653"/>
          <a:stretch>
            <a:fillRect/>
          </a:stretch>
        </p:blipFill>
        <p:spPr>
          <a:xfrm>
            <a:off x="2401067" y="1023882"/>
            <a:ext cx="6173933" cy="5559418"/>
          </a:xfrm>
          <a:prstGeom prst="rect">
            <a:avLst/>
          </a:prstGeom>
          <a:ln w="12700">
            <a:miter lim="400000"/>
          </a:ln>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267"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Demonstration of Prototype</a:t>
            </a:r>
          </a:p>
        </p:txBody>
      </p:sp>
      <p:sp>
        <p:nvSpPr>
          <p:cNvPr id="268" name="Content Placeholder 2"/>
          <p:cNvSpPr txBox="1">
            <a:spLocks noGrp="1"/>
          </p:cNvSpPr>
          <p:nvPr>
            <p:ph type="body" sz="quarter" idx="1"/>
          </p:nvPr>
        </p:nvSpPr>
        <p:spPr>
          <a:xfrm>
            <a:off x="1097280" y="1845734"/>
            <a:ext cx="10068698" cy="367822"/>
          </a:xfrm>
          <a:prstGeom prst="rect">
            <a:avLst/>
          </a:prstGeom>
        </p:spPr>
        <p:txBody>
          <a:bodyPr>
            <a:normAutofit/>
          </a:bodyPr>
          <a:lstStyle>
            <a:lvl1pPr marL="0" indent="0">
              <a:buSzTx/>
              <a:buNone/>
              <a:defRPr>
                <a:solidFill>
                  <a:srgbClr val="000000"/>
                </a:solidFill>
                <a:latin typeface="Times New Roman"/>
                <a:ea typeface="Times New Roman"/>
                <a:cs typeface="Times New Roman"/>
                <a:sym typeface="Times New Roman"/>
              </a:defRPr>
            </a:lvl1pPr>
          </a:lstStyle>
          <a:p>
            <a:r>
              <a:rPr sz="2400" dirty="0"/>
              <a:t>UI/UX Images</a:t>
            </a:r>
          </a:p>
        </p:txBody>
      </p:sp>
      <p:sp>
        <p:nvSpPr>
          <p:cNvPr id="269"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70"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19</a:t>
            </a:fld>
            <a:endParaRPr/>
          </a:p>
        </p:txBody>
      </p:sp>
      <p:pic>
        <p:nvPicPr>
          <p:cNvPr id="271"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pic>
        <p:nvPicPr>
          <p:cNvPr id="3" name="Picture 2">
            <a:extLst>
              <a:ext uri="{FF2B5EF4-FFF2-40B4-BE49-F238E27FC236}">
                <a16:creationId xmlns:a16="http://schemas.microsoft.com/office/drawing/2014/main" id="{B7A37DCB-ADB5-1A2A-4B72-A2298015FE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494" y="2321930"/>
            <a:ext cx="5573634" cy="2895677"/>
          </a:xfrm>
          <a:prstGeom prst="rect">
            <a:avLst/>
          </a:prstGeom>
        </p:spPr>
      </p:pic>
      <p:pic>
        <p:nvPicPr>
          <p:cNvPr id="5" name="Picture 4">
            <a:extLst>
              <a:ext uri="{FF2B5EF4-FFF2-40B4-BE49-F238E27FC236}">
                <a16:creationId xmlns:a16="http://schemas.microsoft.com/office/drawing/2014/main" id="{94A03416-CC7F-DA35-97B6-75015657BC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2874" y="2321929"/>
            <a:ext cx="5809507" cy="2895677"/>
          </a:xfrm>
          <a:prstGeom prst="rect">
            <a:avLst/>
          </a:prstGeom>
        </p:spPr>
      </p:pic>
      <p:sp>
        <p:nvSpPr>
          <p:cNvPr id="7" name="TextBox 6">
            <a:extLst>
              <a:ext uri="{FF2B5EF4-FFF2-40B4-BE49-F238E27FC236}">
                <a16:creationId xmlns:a16="http://schemas.microsoft.com/office/drawing/2014/main" id="{DE92B32A-F7C7-C74F-14FC-8B2FFBFC8137}"/>
              </a:ext>
            </a:extLst>
          </p:cNvPr>
          <p:cNvSpPr txBox="1"/>
          <p:nvPr/>
        </p:nvSpPr>
        <p:spPr>
          <a:xfrm>
            <a:off x="-243840" y="5277719"/>
            <a:ext cx="6096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200" dirty="0">
                <a:latin typeface="Times New Roman" panose="02020603050405020304" pitchFamily="18" charset="0"/>
                <a:cs typeface="Times New Roman" panose="02020603050405020304" pitchFamily="18" charset="0"/>
              </a:rPr>
              <a:t>Fig.4: user interface </a:t>
            </a:r>
            <a:endParaRPr lang="en-IN"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44BA1FA-C144-E31E-87CD-EE47F2BEA626}"/>
              </a:ext>
            </a:extLst>
          </p:cNvPr>
          <p:cNvSpPr txBox="1"/>
          <p:nvPr/>
        </p:nvSpPr>
        <p:spPr>
          <a:xfrm>
            <a:off x="5852160" y="5248443"/>
            <a:ext cx="6096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US" sz="1200" dirty="0">
                <a:latin typeface="Times New Roman" panose="02020603050405020304" pitchFamily="18" charset="0"/>
                <a:cs typeface="Times New Roman" panose="02020603050405020304" pitchFamily="18" charset="0"/>
              </a:rPr>
              <a:t>Fig.5: Response interface </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Footer Placeholder 7"/>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cap="all">
                <a:solidFill>
                  <a:srgbClr val="FFFFFF"/>
                </a:solidFill>
                <a:latin typeface="+mn-lt"/>
                <a:ea typeface="+mn-ea"/>
                <a:cs typeface="+mn-cs"/>
                <a:sym typeface="Calibri"/>
              </a:defRPr>
            </a:pPr>
            <a:r>
              <a:rPr dirty="0"/>
              <a:t> Acharya Institute of technology </a:t>
            </a:r>
          </a:p>
        </p:txBody>
      </p:sp>
      <p:sp>
        <p:nvSpPr>
          <p:cNvPr id="283" name="Title 1"/>
          <p:cNvSpPr txBox="1">
            <a:spLocks noGrp="1"/>
          </p:cNvSpPr>
          <p:nvPr>
            <p:ph type="title"/>
          </p:nvPr>
        </p:nvSpPr>
        <p:spPr>
          <a:xfrm>
            <a:off x="1076686" y="341742"/>
            <a:ext cx="10078995" cy="1821460"/>
          </a:xfrm>
          <a:prstGeom prst="rect">
            <a:avLst/>
          </a:prstGeom>
        </p:spPr>
        <p:txBody>
          <a:bodyPr/>
          <a:lstStyle/>
          <a:p>
            <a:pPr defTabSz="822958">
              <a:defRPr sz="3800" spc="-100">
                <a:latin typeface="Times New Roman"/>
                <a:ea typeface="Times New Roman"/>
                <a:cs typeface="Times New Roman"/>
                <a:sym typeface="Times New Roman"/>
              </a:defRPr>
            </a:pPr>
            <a:br>
              <a:rPr dirty="0"/>
            </a:br>
            <a:r>
              <a:rPr sz="3200" b="1" dirty="0"/>
              <a:t>Results &amp; Discussion</a:t>
            </a:r>
            <a:br>
              <a:rPr dirty="0"/>
            </a:br>
            <a:br>
              <a:rPr dirty="0"/>
            </a:br>
            <a:r>
              <a:rPr sz="2400" b="1" dirty="0">
                <a:solidFill>
                  <a:srgbClr val="000000"/>
                </a:solidFill>
              </a:rPr>
              <a:t>Performance Metrics &amp; Evaluation</a:t>
            </a:r>
            <a:endParaRPr sz="1800" b="1" dirty="0">
              <a:solidFill>
                <a:srgbClr val="000000"/>
              </a:solidFill>
            </a:endParaRPr>
          </a:p>
        </p:txBody>
      </p:sp>
      <p:sp>
        <p:nvSpPr>
          <p:cNvPr id="284" name="Date Placeholder 6"/>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285" name="Slide Number Placeholder 8"/>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20</a:t>
            </a:fld>
            <a:endParaRPr/>
          </a:p>
        </p:txBody>
      </p:sp>
      <p:pic>
        <p:nvPicPr>
          <p:cNvPr id="286" name="Picture 10" descr="Picture 10"/>
          <p:cNvPicPr>
            <a:picLocks noChangeAspect="1"/>
          </p:cNvPicPr>
          <p:nvPr/>
        </p:nvPicPr>
        <p:blipFill>
          <a:blip r:embed="rId2"/>
          <a:stretch>
            <a:fillRect/>
          </a:stretch>
        </p:blipFill>
        <p:spPr>
          <a:xfrm>
            <a:off x="9619988" y="286603"/>
            <a:ext cx="1535693" cy="1450757"/>
          </a:xfrm>
          <a:prstGeom prst="rect">
            <a:avLst/>
          </a:prstGeom>
          <a:ln w="12700">
            <a:miter lim="400000"/>
          </a:ln>
        </p:spPr>
      </p:pic>
      <p:pic>
        <p:nvPicPr>
          <p:cNvPr id="3" name="Picture 2">
            <a:extLst>
              <a:ext uri="{FF2B5EF4-FFF2-40B4-BE49-F238E27FC236}">
                <a16:creationId xmlns:a16="http://schemas.microsoft.com/office/drawing/2014/main" id="{AE361C77-A34B-9BD9-4EBF-357AC24A2F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8216" y="2163202"/>
            <a:ext cx="6302584" cy="3825865"/>
          </a:xfrm>
          <a:prstGeom prst="rect">
            <a:avLst/>
          </a:prstGeom>
        </p:spPr>
      </p:pic>
      <p:sp>
        <p:nvSpPr>
          <p:cNvPr id="5" name="TextBox 4">
            <a:extLst>
              <a:ext uri="{FF2B5EF4-FFF2-40B4-BE49-F238E27FC236}">
                <a16:creationId xmlns:a16="http://schemas.microsoft.com/office/drawing/2014/main" id="{AEB46BEA-E727-FE58-C25B-6118658B34DD}"/>
              </a:ext>
            </a:extLst>
          </p:cNvPr>
          <p:cNvSpPr txBox="1"/>
          <p:nvPr/>
        </p:nvSpPr>
        <p:spPr>
          <a:xfrm>
            <a:off x="2863654" y="5989067"/>
            <a:ext cx="609600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rPr>
              <a:t>Fig.6:RAG evaluation metrics</a:t>
            </a:r>
            <a:endParaRPr kumimoji="0" lang="en-IN" sz="12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Helvetica"/>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Results &amp; Discussion</a:t>
            </a:r>
          </a:p>
        </p:txBody>
      </p:sp>
      <p:sp>
        <p:nvSpPr>
          <p:cNvPr id="290" name="Content Placeholder 2"/>
          <p:cNvSpPr txBox="1">
            <a:spLocks noGrp="1"/>
          </p:cNvSpPr>
          <p:nvPr>
            <p:ph type="body" idx="1"/>
          </p:nvPr>
        </p:nvSpPr>
        <p:spPr>
          <a:xfrm>
            <a:off x="1066799" y="1793407"/>
            <a:ext cx="10058402" cy="4023360"/>
          </a:xfrm>
          <a:prstGeom prst="rect">
            <a:avLst/>
          </a:prstGeom>
        </p:spPr>
        <p:txBody>
          <a:bodyPr>
            <a:noAutofit/>
          </a:bodyPr>
          <a:lstStyle/>
          <a:p>
            <a:pPr marL="0" indent="0" algn="just">
              <a:buSzTx/>
              <a:buNone/>
              <a:defRPr sz="2400" b="1">
                <a:latin typeface="Times New Roman"/>
                <a:ea typeface="Times New Roman"/>
                <a:cs typeface="Times New Roman"/>
                <a:sym typeface="Times New Roman"/>
              </a:defRPr>
            </a:pPr>
            <a:r>
              <a:rPr dirty="0"/>
              <a:t>Discussion of Findings: Metrics &amp; Utility</a:t>
            </a:r>
          </a:p>
          <a:p>
            <a:pPr marL="0" indent="0" algn="just">
              <a:buSzTx/>
              <a:buNone/>
              <a:defRPr sz="2400" b="1">
                <a:latin typeface="Times New Roman"/>
                <a:ea typeface="Times New Roman"/>
                <a:cs typeface="Times New Roman"/>
                <a:sym typeface="Times New Roman"/>
              </a:defRPr>
            </a:pPr>
            <a:r>
              <a:rPr dirty="0"/>
              <a:t>1. System Performance Metrics</a:t>
            </a:r>
          </a:p>
          <a:p>
            <a:pPr marL="140368" indent="-140368" defTabSz="457200">
              <a:lnSpc>
                <a:spcPct val="100000"/>
              </a:lnSpc>
              <a:spcBef>
                <a:spcPts val="1400"/>
              </a:spcBef>
              <a:buClrTx/>
              <a:buFontTx/>
              <a:buChar char="•"/>
              <a:defRPr b="1">
                <a:solidFill>
                  <a:srgbClr val="000000"/>
                </a:solidFill>
                <a:latin typeface="Times Roman"/>
                <a:ea typeface="Times Roman"/>
                <a:cs typeface="Times Roman"/>
                <a:sym typeface="Times Roman"/>
              </a:defRPr>
            </a:pPr>
            <a:r>
              <a:rPr dirty="0"/>
              <a:t>Accuracy of Case Identification:</a:t>
            </a:r>
            <a:br>
              <a:rPr dirty="0"/>
            </a:br>
            <a:r>
              <a:rPr dirty="0"/>
              <a:t>The model correctly differentiates between real and fictional cases using fuzzy matching, LLM-assisted extraction, and semantic validation.</a:t>
            </a:r>
          </a:p>
          <a:p>
            <a:pPr marL="140368" indent="-140368" defTabSz="457200">
              <a:lnSpc>
                <a:spcPct val="100000"/>
              </a:lnSpc>
              <a:spcBef>
                <a:spcPts val="1400"/>
              </a:spcBef>
              <a:buClrTx/>
              <a:buFontTx/>
              <a:buChar char="•"/>
              <a:defRPr b="1">
                <a:solidFill>
                  <a:srgbClr val="000000"/>
                </a:solidFill>
                <a:latin typeface="Times Roman"/>
                <a:ea typeface="Times Roman"/>
                <a:cs typeface="Times Roman"/>
                <a:sym typeface="Times Roman"/>
              </a:defRPr>
            </a:pPr>
            <a:r>
              <a:rPr dirty="0"/>
              <a:t>Hallucination Prevention:</a:t>
            </a:r>
            <a:br>
              <a:rPr dirty="0"/>
            </a:br>
            <a:r>
              <a:rPr dirty="0"/>
              <a:t>High reliability due to strict acceptance thresholds, fallback case listing, and refusal to fabricate non-existent precedents.</a:t>
            </a:r>
          </a:p>
          <a:p>
            <a:pPr marL="140368" indent="-140368" defTabSz="457200">
              <a:lnSpc>
                <a:spcPct val="100000"/>
              </a:lnSpc>
              <a:spcBef>
                <a:spcPts val="1400"/>
              </a:spcBef>
              <a:buClrTx/>
              <a:buFontTx/>
              <a:buChar char="•"/>
              <a:defRPr b="1">
                <a:solidFill>
                  <a:srgbClr val="000000"/>
                </a:solidFill>
                <a:latin typeface="Times Roman"/>
                <a:ea typeface="Times Roman"/>
                <a:cs typeface="Times Roman"/>
                <a:sym typeface="Times Roman"/>
              </a:defRPr>
            </a:pPr>
            <a:r>
              <a:rPr dirty="0"/>
              <a:t>Retrieval Quality:</a:t>
            </a:r>
            <a:br>
              <a:rPr dirty="0"/>
            </a:br>
            <a:r>
              <a:rPr dirty="0"/>
              <a:t>Parent–Child RAG ensures complete aggregation of all judgment chunks, improving context coverage and summary quality.</a:t>
            </a:r>
          </a:p>
        </p:txBody>
      </p:sp>
      <p:pic>
        <p:nvPicPr>
          <p:cNvPr id="291" name="Picture 4" descr="Picture 4"/>
          <p:cNvPicPr>
            <a:picLocks noChangeAspect="1"/>
          </p:cNvPicPr>
          <p:nvPr/>
        </p:nvPicPr>
        <p:blipFill>
          <a:blip r:embed="rId2"/>
          <a:stretch>
            <a:fillRect/>
          </a:stretch>
        </p:blipFill>
        <p:spPr>
          <a:xfrm>
            <a:off x="9619988" y="286603"/>
            <a:ext cx="1535693" cy="1450757"/>
          </a:xfrm>
          <a:prstGeom prst="rect">
            <a:avLst/>
          </a:prstGeom>
          <a:ln w="12700">
            <a:miter lim="400000"/>
          </a:ln>
        </p:spPr>
      </p:pic>
      <p:sp>
        <p:nvSpPr>
          <p:cNvPr id="292" name="TextBox 6"/>
          <p:cNvSpPr txBox="1"/>
          <p:nvPr/>
        </p:nvSpPr>
        <p:spPr>
          <a:xfrm>
            <a:off x="871630" y="6223819"/>
            <a:ext cx="1875011" cy="63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defRPr>
                <a:latin typeface="+mn-lt"/>
                <a:ea typeface="+mn-ea"/>
                <a:cs typeface="+mn-cs"/>
                <a:sym typeface="Calibri"/>
              </a:defRPr>
            </a:pPr>
            <a:endParaRPr/>
          </a:p>
          <a:p>
            <a:pPr>
              <a:defRPr sz="900">
                <a:solidFill>
                  <a:srgbClr val="F2F2F2"/>
                </a:solidFill>
                <a:latin typeface="+mn-lt"/>
                <a:ea typeface="+mn-ea"/>
                <a:cs typeface="+mn-cs"/>
                <a:sym typeface="Calibri"/>
              </a:defRPr>
            </a:pPr>
            <a:r>
              <a:t>November 17, 2025</a:t>
            </a:r>
          </a:p>
        </p:txBody>
      </p:sp>
      <p:sp>
        <p:nvSpPr>
          <p:cNvPr id="293" name="TextBox 7"/>
          <p:cNvSpPr txBox="1"/>
          <p:nvPr/>
        </p:nvSpPr>
        <p:spPr>
          <a:xfrm>
            <a:off x="3064223" y="6449961"/>
            <a:ext cx="5975063"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sz="900">
                <a:solidFill>
                  <a:srgbClr val="F2F2F2"/>
                </a:solidFill>
                <a:latin typeface="+mn-lt"/>
                <a:ea typeface="+mn-ea"/>
                <a:cs typeface="+mn-cs"/>
                <a:sym typeface="Calibri"/>
              </a:defRPr>
            </a:pPr>
            <a:r>
              <a:rPr dirty="0"/>
              <a:t>Department of </a:t>
            </a:r>
            <a:r>
              <a:rPr lang="en-US" dirty="0"/>
              <a:t>COMPUTER SCIENCE ENGINEERING (DATA SCIENCE)</a:t>
            </a:r>
            <a:endParaRPr dirty="0"/>
          </a:p>
          <a:p>
            <a:pPr algn="ctr">
              <a:defRPr sz="900">
                <a:solidFill>
                  <a:srgbClr val="F2F2F2"/>
                </a:solidFill>
                <a:latin typeface="+mn-lt"/>
                <a:ea typeface="+mn-ea"/>
                <a:cs typeface="+mn-cs"/>
                <a:sym typeface="Calibri"/>
              </a:defRPr>
            </a:pPr>
            <a:r>
              <a:rPr dirty="0"/>
              <a:t> Acharya Institute of technology </a:t>
            </a:r>
          </a:p>
        </p:txBody>
      </p:sp>
      <p:sp>
        <p:nvSpPr>
          <p:cNvPr id="294" name="TextBox 9"/>
          <p:cNvSpPr txBox="1"/>
          <p:nvPr/>
        </p:nvSpPr>
        <p:spPr>
          <a:xfrm>
            <a:off x="11411808" y="6523901"/>
            <a:ext cx="370677" cy="228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000">
                <a:solidFill>
                  <a:srgbClr val="F2F2F2"/>
                </a:solidFill>
                <a:latin typeface="+mn-lt"/>
                <a:ea typeface="+mn-ea"/>
                <a:cs typeface="+mn-cs"/>
                <a:sym typeface="Calibri"/>
              </a:defRPr>
            </a:lvl1pPr>
          </a:lstStyle>
          <a:p>
            <a:r>
              <a:t>19</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Results &amp; Discussion</a:t>
            </a:r>
          </a:p>
        </p:txBody>
      </p:sp>
      <p:sp>
        <p:nvSpPr>
          <p:cNvPr id="297" name="Content Placeholder 2"/>
          <p:cNvSpPr txBox="1">
            <a:spLocks noGrp="1"/>
          </p:cNvSpPr>
          <p:nvPr>
            <p:ph type="body" idx="1"/>
          </p:nvPr>
        </p:nvSpPr>
        <p:spPr>
          <a:xfrm>
            <a:off x="1066799" y="1793407"/>
            <a:ext cx="10058402" cy="4023360"/>
          </a:xfrm>
          <a:prstGeom prst="rect">
            <a:avLst/>
          </a:prstGeom>
        </p:spPr>
        <p:txBody>
          <a:bodyPr>
            <a:normAutofit fontScale="85000" lnSpcReduction="20000"/>
          </a:bodyPr>
          <a:lstStyle/>
          <a:p>
            <a:pPr marL="0" indent="0" algn="just" defTabSz="777240">
              <a:spcBef>
                <a:spcPts val="1000"/>
              </a:spcBef>
              <a:buSzTx/>
              <a:buNone/>
              <a:defRPr sz="2040" b="1">
                <a:latin typeface="Times New Roman"/>
                <a:ea typeface="Times New Roman"/>
                <a:cs typeface="Times New Roman"/>
                <a:sym typeface="Times New Roman"/>
              </a:defRPr>
            </a:pPr>
            <a:r>
              <a:rPr sz="2400" dirty="0"/>
              <a:t>Discussion of Findings: Metrics &amp; Utility</a:t>
            </a:r>
            <a:endParaRPr sz="2400" dirty="0">
              <a:latin typeface="Times New Roman"/>
              <a:ea typeface="Times New Roman"/>
              <a:cs typeface="Times New Roman"/>
              <a:sym typeface="Times New Roman"/>
            </a:endParaRPr>
          </a:p>
          <a:p>
            <a:pPr marL="0" indent="0" defTabSz="388620">
              <a:lnSpc>
                <a:spcPct val="100000"/>
              </a:lnSpc>
              <a:spcBef>
                <a:spcPts val="1100"/>
              </a:spcBef>
              <a:buClrTx/>
              <a:buSzTx/>
              <a:buFontTx/>
              <a:buNone/>
              <a:defRPr sz="1785" b="1">
                <a:solidFill>
                  <a:srgbClr val="000000"/>
                </a:solidFill>
                <a:latin typeface="Times Roman"/>
                <a:ea typeface="Times Roman"/>
                <a:cs typeface="Times Roman"/>
                <a:sym typeface="Times Roman"/>
              </a:defRPr>
            </a:pPr>
            <a:r>
              <a:rPr dirty="0"/>
              <a:t>2. </a:t>
            </a:r>
            <a:r>
              <a:rPr sz="2400" dirty="0"/>
              <a:t>Utility for the Project</a:t>
            </a:r>
          </a:p>
          <a:p>
            <a:pPr marL="388620" indent="-269875" defTabSz="388620">
              <a:lnSpc>
                <a:spcPct val="100000"/>
              </a:lnSpc>
              <a:spcBef>
                <a:spcPts val="1000"/>
              </a:spcBef>
              <a:buClrTx/>
              <a:buFont typeface="Times Roman"/>
              <a:buChar char="•"/>
              <a:defRPr sz="1785">
                <a:solidFill>
                  <a:srgbClr val="000000"/>
                </a:solidFill>
                <a:latin typeface="Times Roman"/>
                <a:ea typeface="Times Roman"/>
                <a:cs typeface="Times Roman"/>
                <a:sym typeface="Times Roman"/>
              </a:defRPr>
            </a:pPr>
            <a:r>
              <a:rPr sz="2400" b="1" dirty="0"/>
              <a:t>Trustworthy Legal Summaries:</a:t>
            </a:r>
            <a:br>
              <a:rPr sz="2400" dirty="0"/>
            </a:br>
            <a:r>
              <a:rPr sz="2400" dirty="0"/>
              <a:t>Produces accurate, structured summaries following judicial formats (Issues, Facts, Ratio, Holding, etc.).</a:t>
            </a:r>
          </a:p>
          <a:p>
            <a:pPr marL="388620" indent="-269875" defTabSz="388620">
              <a:lnSpc>
                <a:spcPct val="100000"/>
              </a:lnSpc>
              <a:spcBef>
                <a:spcPts val="1000"/>
              </a:spcBef>
              <a:buClrTx/>
              <a:buFont typeface="Times Roman"/>
              <a:buChar char="•"/>
              <a:defRPr sz="1785">
                <a:solidFill>
                  <a:srgbClr val="000000"/>
                </a:solidFill>
                <a:latin typeface="Times Roman"/>
                <a:ea typeface="Times Roman"/>
                <a:cs typeface="Times Roman"/>
                <a:sym typeface="Times Roman"/>
              </a:defRPr>
            </a:pPr>
            <a:r>
              <a:rPr sz="2400" b="1" dirty="0"/>
              <a:t>Safe Fictional Analysis Mode:</a:t>
            </a:r>
            <a:br>
              <a:rPr sz="2400" dirty="0"/>
            </a:br>
            <a:r>
              <a:rPr sz="2400" dirty="0"/>
              <a:t>Prevents hallucination by switching to a controlled mode when detecting hypothetical or future-year cases.</a:t>
            </a:r>
          </a:p>
          <a:p>
            <a:pPr marL="388620" indent="-269875" defTabSz="388620">
              <a:lnSpc>
                <a:spcPct val="100000"/>
              </a:lnSpc>
              <a:spcBef>
                <a:spcPts val="1000"/>
              </a:spcBef>
              <a:buClrTx/>
              <a:buFont typeface="Times Roman"/>
              <a:buChar char="•"/>
              <a:defRPr sz="1785">
                <a:solidFill>
                  <a:srgbClr val="000000"/>
                </a:solidFill>
                <a:latin typeface="Times Roman"/>
                <a:ea typeface="Times Roman"/>
                <a:cs typeface="Times Roman"/>
                <a:sym typeface="Times Roman"/>
              </a:defRPr>
            </a:pPr>
            <a:r>
              <a:rPr sz="2400" b="1" dirty="0"/>
              <a:t>Strong Constitutional Interpretation:</a:t>
            </a:r>
            <a:br>
              <a:rPr sz="2400" dirty="0"/>
            </a:br>
            <a:r>
              <a:rPr sz="2400" dirty="0"/>
              <a:t>Automatically references doctrines like Article 14, natural justice principles, proportionality, etc.</a:t>
            </a:r>
          </a:p>
          <a:p>
            <a:pPr marL="388620" indent="-269875" defTabSz="388620">
              <a:lnSpc>
                <a:spcPct val="100000"/>
              </a:lnSpc>
              <a:spcBef>
                <a:spcPts val="1000"/>
              </a:spcBef>
              <a:buClrTx/>
              <a:buFont typeface="Times Roman"/>
              <a:buChar char="•"/>
              <a:defRPr sz="1785">
                <a:solidFill>
                  <a:srgbClr val="000000"/>
                </a:solidFill>
                <a:latin typeface="Times Roman"/>
                <a:ea typeface="Times Roman"/>
                <a:cs typeface="Times Roman"/>
                <a:sym typeface="Times Roman"/>
              </a:defRPr>
            </a:pPr>
            <a:r>
              <a:rPr sz="2400" b="1" dirty="0"/>
              <a:t>Scalable for Large Databases:</a:t>
            </a:r>
            <a:br>
              <a:rPr sz="2400" dirty="0"/>
            </a:br>
            <a:r>
              <a:rPr sz="2400" dirty="0"/>
              <a:t>Efficient vector retrieval and chunking allow handling 1000+ judgments smoothly</a:t>
            </a:r>
            <a:r>
              <a:rPr dirty="0"/>
              <a:t>.</a:t>
            </a:r>
          </a:p>
        </p:txBody>
      </p:sp>
      <p:pic>
        <p:nvPicPr>
          <p:cNvPr id="298" name="Picture 4" descr="Picture 4"/>
          <p:cNvPicPr>
            <a:picLocks noChangeAspect="1"/>
          </p:cNvPicPr>
          <p:nvPr/>
        </p:nvPicPr>
        <p:blipFill>
          <a:blip r:embed="rId2"/>
          <a:stretch>
            <a:fillRect/>
          </a:stretch>
        </p:blipFill>
        <p:spPr>
          <a:xfrm>
            <a:off x="9619988" y="286603"/>
            <a:ext cx="1535693" cy="1450757"/>
          </a:xfrm>
          <a:prstGeom prst="rect">
            <a:avLst/>
          </a:prstGeom>
          <a:ln w="12700">
            <a:miter lim="400000"/>
          </a:ln>
        </p:spPr>
      </p:pic>
      <p:sp>
        <p:nvSpPr>
          <p:cNvPr id="299" name="TextBox 6"/>
          <p:cNvSpPr txBox="1"/>
          <p:nvPr/>
        </p:nvSpPr>
        <p:spPr>
          <a:xfrm>
            <a:off x="871630" y="6223819"/>
            <a:ext cx="1875011" cy="6377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defRPr>
                <a:latin typeface="+mn-lt"/>
                <a:ea typeface="+mn-ea"/>
                <a:cs typeface="+mn-cs"/>
                <a:sym typeface="Calibri"/>
              </a:defRPr>
            </a:pPr>
            <a:endParaRPr/>
          </a:p>
          <a:p>
            <a:pPr>
              <a:defRPr sz="900">
                <a:solidFill>
                  <a:srgbClr val="F2F2F2"/>
                </a:solidFill>
                <a:latin typeface="+mn-lt"/>
                <a:ea typeface="+mn-ea"/>
                <a:cs typeface="+mn-cs"/>
                <a:sym typeface="Calibri"/>
              </a:defRPr>
            </a:pPr>
            <a:r>
              <a:t>November 17, 2025</a:t>
            </a:r>
          </a:p>
        </p:txBody>
      </p:sp>
      <p:sp>
        <p:nvSpPr>
          <p:cNvPr id="300" name="TextBox 7"/>
          <p:cNvSpPr txBox="1"/>
          <p:nvPr/>
        </p:nvSpPr>
        <p:spPr>
          <a:xfrm>
            <a:off x="3064223" y="6449961"/>
            <a:ext cx="5975063"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p>
            <a:pPr algn="ctr">
              <a:defRPr sz="900">
                <a:solidFill>
                  <a:srgbClr val="F2F2F2"/>
                </a:solidFill>
                <a:latin typeface="+mn-lt"/>
                <a:ea typeface="+mn-ea"/>
                <a:cs typeface="+mn-cs"/>
                <a:sym typeface="Calibri"/>
              </a:defRPr>
            </a:pPr>
            <a:r>
              <a:rPr dirty="0"/>
              <a:t>Department of </a:t>
            </a:r>
            <a:r>
              <a:rPr lang="en-US" dirty="0"/>
              <a:t>COMPUTER SCIENCE ENGINEERING (DATA SCIENCE)</a:t>
            </a:r>
            <a:endParaRPr dirty="0"/>
          </a:p>
          <a:p>
            <a:pPr algn="ctr">
              <a:defRPr sz="900">
                <a:solidFill>
                  <a:srgbClr val="F2F2F2"/>
                </a:solidFill>
                <a:latin typeface="+mn-lt"/>
                <a:ea typeface="+mn-ea"/>
                <a:cs typeface="+mn-cs"/>
                <a:sym typeface="Calibri"/>
              </a:defRPr>
            </a:pPr>
            <a:r>
              <a:rPr dirty="0"/>
              <a:t> Acharya Institute of technology </a:t>
            </a:r>
          </a:p>
        </p:txBody>
      </p:sp>
      <p:sp>
        <p:nvSpPr>
          <p:cNvPr id="301" name="TextBox 9"/>
          <p:cNvSpPr txBox="1"/>
          <p:nvPr/>
        </p:nvSpPr>
        <p:spPr>
          <a:xfrm>
            <a:off x="11411808" y="6523901"/>
            <a:ext cx="370677" cy="2285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spAutoFit/>
          </a:bodyPr>
          <a:lstStyle>
            <a:lvl1pPr>
              <a:defRPr sz="1000">
                <a:solidFill>
                  <a:srgbClr val="F2F2F2"/>
                </a:solidFill>
                <a:latin typeface="+mn-lt"/>
                <a:ea typeface="+mn-ea"/>
                <a:cs typeface="+mn-cs"/>
                <a:sym typeface="Calibri"/>
              </a:defRPr>
            </a:lvl1pPr>
          </a:lstStyle>
          <a:p>
            <a:r>
              <a:t>19</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04" name="Title 1"/>
          <p:cNvSpPr txBox="1">
            <a:spLocks noGrp="1"/>
          </p:cNvSpPr>
          <p:nvPr>
            <p:ph type="title"/>
          </p:nvPr>
        </p:nvSpPr>
        <p:spPr>
          <a:xfrm>
            <a:off x="1097280" y="286603"/>
            <a:ext cx="10058401" cy="1450757"/>
          </a:xfrm>
          <a:prstGeom prst="rect">
            <a:avLst/>
          </a:prstGeom>
        </p:spPr>
        <p:txBody>
          <a:bodyPr>
            <a:normAutofit/>
          </a:bodyPr>
          <a:lstStyle>
            <a:lvl1pPr>
              <a:defRPr spc="-100">
                <a:latin typeface="Times New Roman"/>
                <a:ea typeface="Times New Roman"/>
                <a:cs typeface="Times New Roman"/>
                <a:sym typeface="Times New Roman"/>
              </a:defRPr>
            </a:lvl1pPr>
          </a:lstStyle>
          <a:p>
            <a:r>
              <a:rPr sz="3200" b="1" dirty="0"/>
              <a:t>Future Works</a:t>
            </a:r>
          </a:p>
        </p:txBody>
      </p:sp>
      <p:sp>
        <p:nvSpPr>
          <p:cNvPr id="305" name="Content Placeholder 2"/>
          <p:cNvSpPr txBox="1">
            <a:spLocks noGrp="1"/>
          </p:cNvSpPr>
          <p:nvPr>
            <p:ph type="body" idx="1"/>
          </p:nvPr>
        </p:nvSpPr>
        <p:spPr>
          <a:xfrm>
            <a:off x="1097280" y="1845734"/>
            <a:ext cx="10058401" cy="4023360"/>
          </a:xfrm>
          <a:prstGeom prst="rect">
            <a:avLst/>
          </a:prstGeom>
        </p:spPr>
        <p:txBody>
          <a:bodyPr>
            <a:noAutofit/>
          </a:bodyPr>
          <a:lstStyle/>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Expand knowledge base to include:</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High Courts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International jurisdictions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Statutory documents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Introduce </a:t>
            </a:r>
            <a:r>
              <a:rPr sz="2400" b="1" dirty="0"/>
              <a:t>multi-turn conversational legal research</a:t>
            </a:r>
            <a:r>
              <a:rPr sz="2400" dirty="0"/>
              <a:t>.</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Build a </a:t>
            </a:r>
            <a:r>
              <a:rPr sz="2400" b="1" dirty="0"/>
              <a:t>citation graph</a:t>
            </a:r>
            <a:r>
              <a:rPr sz="2400" dirty="0"/>
              <a:t> for tracking precedents automatically.</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Use rationale-driven retrieval instead of fixed top-k.</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Add multimodal support (PDFs, scanned documents, handwritten notes).</a:t>
            </a:r>
          </a:p>
          <a:p>
            <a:pPr marL="200526" indent="-200526" defTabSz="457200">
              <a:lnSpc>
                <a:spcPct val="100000"/>
              </a:lnSpc>
              <a:buClrTx/>
              <a:buFontTx/>
              <a:buChar char="•"/>
              <a:defRPr>
                <a:solidFill>
                  <a:srgbClr val="000000"/>
                </a:solidFill>
                <a:latin typeface="Times New Roman"/>
                <a:ea typeface="Times New Roman"/>
                <a:cs typeface="Times New Roman"/>
                <a:sym typeface="Times New Roman"/>
              </a:defRPr>
            </a:pPr>
            <a:r>
              <a:rPr sz="2400" dirty="0"/>
              <a:t>Integrate real-time legal updates and precedent monitoring</a:t>
            </a:r>
          </a:p>
        </p:txBody>
      </p:sp>
      <p:sp>
        <p:nvSpPr>
          <p:cNvPr id="306"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07"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p:pic>
        <p:nvPicPr>
          <p:cNvPr id="308"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11" name="Title 1"/>
          <p:cNvSpPr txBox="1">
            <a:spLocks noGrp="1"/>
          </p:cNvSpPr>
          <p:nvPr>
            <p:ph type="title"/>
          </p:nvPr>
        </p:nvSpPr>
        <p:spPr>
          <a:xfrm>
            <a:off x="1097280" y="286603"/>
            <a:ext cx="10058401" cy="1450757"/>
          </a:xfrm>
          <a:prstGeom prst="rect">
            <a:avLst/>
          </a:prstGeom>
        </p:spPr>
        <p:txBody>
          <a:bodyPr/>
          <a:lstStyle>
            <a:lvl1pPr>
              <a:defRPr spc="-100">
                <a:latin typeface="Times New Roman"/>
                <a:ea typeface="Times New Roman"/>
                <a:cs typeface="Times New Roman"/>
                <a:sym typeface="Times New Roman"/>
              </a:defRPr>
            </a:lvl1pPr>
          </a:lstStyle>
          <a:p>
            <a:r>
              <a:rPr b="1" dirty="0"/>
              <a:t>Conclusion</a:t>
            </a:r>
          </a:p>
        </p:txBody>
      </p:sp>
      <p:sp>
        <p:nvSpPr>
          <p:cNvPr id="312" name="Content Placeholder 2"/>
          <p:cNvSpPr txBox="1">
            <a:spLocks noGrp="1"/>
          </p:cNvSpPr>
          <p:nvPr>
            <p:ph type="body" idx="1"/>
          </p:nvPr>
        </p:nvSpPr>
        <p:spPr>
          <a:xfrm>
            <a:off x="1097280" y="1845734"/>
            <a:ext cx="10058401" cy="4023360"/>
          </a:xfrm>
          <a:prstGeom prst="rect">
            <a:avLst/>
          </a:prstGeom>
        </p:spPr>
        <p:txBody>
          <a:bodyPr>
            <a:normAutofit lnSpcReduction="10000"/>
          </a:bodyPr>
          <a:lstStyle/>
          <a:p>
            <a:pPr marL="240631" indent="-240631" defTabSz="457200">
              <a:lnSpc>
                <a:spcPct val="100000"/>
              </a:lnSpc>
              <a:buClrTx/>
              <a:buFontTx/>
              <a:buChar char="•"/>
              <a:defRPr sz="2400">
                <a:solidFill>
                  <a:srgbClr val="000000"/>
                </a:solidFill>
                <a:latin typeface="Times New Roman"/>
                <a:ea typeface="Times New Roman"/>
                <a:cs typeface="Times New Roman"/>
                <a:sym typeface="Times New Roman"/>
              </a:defRPr>
            </a:pPr>
            <a:r>
              <a:rPr dirty="0"/>
              <a:t>Legal Judgment Digestor provides a domain-aware, trustworthy pipeline for summarizing complex legal judgments.</a:t>
            </a:r>
          </a:p>
          <a:p>
            <a:pPr marL="240631" indent="-240631" defTabSz="457200">
              <a:lnSpc>
                <a:spcPct val="100000"/>
              </a:lnSpc>
              <a:buClrTx/>
              <a:buFontTx/>
              <a:buChar char="•"/>
              <a:defRPr sz="2400">
                <a:solidFill>
                  <a:srgbClr val="000000"/>
                </a:solidFill>
                <a:latin typeface="Times New Roman"/>
                <a:ea typeface="Times New Roman"/>
                <a:cs typeface="Times New Roman"/>
                <a:sym typeface="Times New Roman"/>
              </a:defRPr>
            </a:pPr>
            <a:r>
              <a:rPr dirty="0"/>
              <a:t>Goes beyond standard RAG by combining structure-awareness, hybrid retrieval, and citation-faithful generation.</a:t>
            </a:r>
          </a:p>
          <a:p>
            <a:pPr marL="240631" indent="-240631" defTabSz="457200">
              <a:lnSpc>
                <a:spcPct val="100000"/>
              </a:lnSpc>
              <a:buClrTx/>
              <a:buFontTx/>
              <a:buChar char="•"/>
              <a:defRPr sz="2400">
                <a:solidFill>
                  <a:srgbClr val="000000"/>
                </a:solidFill>
                <a:latin typeface="Times New Roman"/>
                <a:ea typeface="Times New Roman"/>
                <a:cs typeface="Times New Roman"/>
                <a:sym typeface="Times New Roman"/>
              </a:defRPr>
            </a:pPr>
            <a:r>
              <a:rPr dirty="0"/>
              <a:t>Produces accurate, adaptive summaries suitable for both legal professionals and the public.</a:t>
            </a:r>
          </a:p>
          <a:p>
            <a:pPr marL="240631" indent="-240631" defTabSz="457200">
              <a:lnSpc>
                <a:spcPct val="100000"/>
              </a:lnSpc>
              <a:buClrTx/>
              <a:buFontTx/>
              <a:buChar char="•"/>
              <a:defRPr sz="2400">
                <a:solidFill>
                  <a:srgbClr val="000000"/>
                </a:solidFill>
                <a:latin typeface="Times New Roman"/>
                <a:ea typeface="Times New Roman"/>
                <a:cs typeface="Times New Roman"/>
                <a:sym typeface="Times New Roman"/>
              </a:defRPr>
            </a:pPr>
            <a:r>
              <a:rPr dirty="0"/>
              <a:t>Addresses the core challenges of hallucinations, verbosity, and complexity in legal documents.</a:t>
            </a:r>
          </a:p>
          <a:p>
            <a:pPr marL="240631" indent="-240631" defTabSz="457200">
              <a:lnSpc>
                <a:spcPct val="100000"/>
              </a:lnSpc>
              <a:buClrTx/>
              <a:buFontTx/>
              <a:buChar char="•"/>
              <a:defRPr sz="2400">
                <a:solidFill>
                  <a:srgbClr val="000000"/>
                </a:solidFill>
                <a:latin typeface="Times New Roman"/>
                <a:ea typeface="Times New Roman"/>
                <a:cs typeface="Times New Roman"/>
                <a:sym typeface="Times New Roman"/>
              </a:defRPr>
            </a:pPr>
            <a:r>
              <a:rPr dirty="0"/>
              <a:t>Sets foundation for future large-scale deployment in legal research and justice accessibility.</a:t>
            </a:r>
          </a:p>
        </p:txBody>
      </p:sp>
      <p:sp>
        <p:nvSpPr>
          <p:cNvPr id="313"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14"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24</a:t>
            </a:fld>
            <a:endParaRPr/>
          </a:p>
        </p:txBody>
      </p:sp>
      <p:pic>
        <p:nvPicPr>
          <p:cNvPr id="315"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18" name="Title 1"/>
          <p:cNvSpPr txBox="1">
            <a:spLocks noGrp="1"/>
          </p:cNvSpPr>
          <p:nvPr>
            <p:ph type="title"/>
          </p:nvPr>
        </p:nvSpPr>
        <p:spPr>
          <a:xfrm>
            <a:off x="851473" y="188280"/>
            <a:ext cx="10058401" cy="1450757"/>
          </a:xfrm>
          <a:prstGeom prst="rect">
            <a:avLst/>
          </a:prstGeom>
        </p:spPr>
        <p:txBody>
          <a:bodyPr>
            <a:normAutofit/>
          </a:bodyPr>
          <a:lstStyle>
            <a:lvl1pPr>
              <a:lnSpc>
                <a:spcPct val="150000"/>
              </a:lnSpc>
              <a:defRPr spc="-100">
                <a:latin typeface="Times New Roman"/>
                <a:ea typeface="Times New Roman"/>
                <a:cs typeface="Times New Roman"/>
                <a:sym typeface="Times New Roman"/>
              </a:defRPr>
            </a:lvl1pPr>
          </a:lstStyle>
          <a:p>
            <a:r>
              <a:rPr sz="3200" b="1" dirty="0"/>
              <a:t>References</a:t>
            </a:r>
          </a:p>
        </p:txBody>
      </p:sp>
      <p:sp>
        <p:nvSpPr>
          <p:cNvPr id="319" name="Content Placeholder 2"/>
          <p:cNvSpPr txBox="1">
            <a:spLocks noGrp="1"/>
          </p:cNvSpPr>
          <p:nvPr>
            <p:ph type="body" idx="1"/>
          </p:nvPr>
        </p:nvSpPr>
        <p:spPr>
          <a:xfrm>
            <a:off x="203914" y="1836653"/>
            <a:ext cx="11946196" cy="4024344"/>
          </a:xfrm>
          <a:prstGeom prst="rect">
            <a:avLst/>
          </a:prstGeom>
        </p:spPr>
        <p:txBody>
          <a:bodyPr>
            <a:noAutofit/>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[1] All for Law and Law for All: Adaptive RAG Pipeline for Legal Research F. Keisha, P. Singh, Pallavi, D. Fernandes, A. Manivannan, I. </a:t>
            </a:r>
            <a:r>
              <a:rPr lang="en-IN" sz="2400" dirty="0" err="1"/>
              <a:t>Wicaksono</a:t>
            </a:r>
            <a:r>
              <a:rPr lang="en-IN" sz="2400" dirty="0"/>
              <a:t>, and F. Ahmad, “All for Law and Law for All: Adaptive RAG Pipeline for Legal Research,”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[2]</a:t>
            </a:r>
            <a:r>
              <a:rPr lang="en-IN" sz="2400" dirty="0" err="1"/>
              <a:t>HyPA</a:t>
            </a:r>
            <a:r>
              <a:rPr lang="en-IN" sz="2400" dirty="0"/>
              <a:t>-RAG: Hybrid Parameter Adaptive Retrieval-Augmented </a:t>
            </a:r>
            <a:r>
              <a:rPr lang="en-IN" sz="2400" dirty="0" err="1"/>
              <a:t>GenerationR</a:t>
            </a:r>
            <a:r>
              <a:rPr lang="en-IN" sz="2400" dirty="0"/>
              <a:t>. Kalra, Z. Wu, A. Gulley, A. Hilliard, X. Guan, A. </a:t>
            </a:r>
            <a:r>
              <a:rPr lang="en-IN" sz="2400" dirty="0" err="1"/>
              <a:t>Koshiyama</a:t>
            </a:r>
            <a:r>
              <a:rPr lang="en-IN" sz="2400" dirty="0"/>
              <a:t>, and P. Treleaven,“</a:t>
            </a:r>
            <a:r>
              <a:rPr lang="en-IN" sz="2400" dirty="0" err="1"/>
              <a:t>HyPA</a:t>
            </a:r>
            <a:r>
              <a:rPr lang="en-IN" sz="2400" dirty="0"/>
              <a:t>-RAG: Hybrid Parameter Adaptive Retrieval-Augmented Generation,”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[3] The Hidden Structure: Improving Legal Document Understanding Through Explicit Text Formatting C. Braun, A. </a:t>
            </a:r>
            <a:r>
              <a:rPr lang="en-IN" sz="2400" dirty="0" err="1"/>
              <a:t>Lilienbeck</a:t>
            </a:r>
            <a:r>
              <a:rPr lang="en-IN" sz="2400" dirty="0"/>
              <a:t>, and D. </a:t>
            </a:r>
            <a:r>
              <a:rPr lang="en-IN" sz="2400" dirty="0" err="1"/>
              <a:t>Mentjukov</a:t>
            </a:r>
            <a:r>
              <a:rPr lang="en-IN" sz="2400" dirty="0"/>
              <a:t>,“The Hidden Structure: Improving Legal Document Understanding Through Explicit Text Formatting,” 2025. </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p:txBody>
      </p:sp>
      <p:sp>
        <p:nvSpPr>
          <p:cNvPr id="320"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21"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25</a:t>
            </a:fld>
            <a:endParaRPr/>
          </a:p>
        </p:txBody>
      </p:sp>
      <p:pic>
        <p:nvPicPr>
          <p:cNvPr id="322"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73CFA-EFDC-24D5-D319-B6CBA89F5DE3}"/>
            </a:ext>
          </a:extLst>
        </p:cNvPr>
        <p:cNvGrpSpPr/>
        <p:nvPr/>
      </p:nvGrpSpPr>
      <p:grpSpPr>
        <a:xfrm>
          <a:off x="0" y="0"/>
          <a:ext cx="0" cy="0"/>
          <a:chOff x="0" y="0"/>
          <a:chExt cx="0" cy="0"/>
        </a:xfrm>
      </p:grpSpPr>
      <p:sp>
        <p:nvSpPr>
          <p:cNvPr id="317" name="Footer Placeholder 4">
            <a:extLst>
              <a:ext uri="{FF2B5EF4-FFF2-40B4-BE49-F238E27FC236}">
                <a16:creationId xmlns:a16="http://schemas.microsoft.com/office/drawing/2014/main" id="{05F0A2F9-BC17-5E19-85B6-B611A182F17D}"/>
              </a:ext>
            </a:extLst>
          </p:cNvPr>
          <p:cNvSpPr txBox="1"/>
          <p:nvPr/>
        </p:nvSpPr>
        <p:spPr>
          <a:xfrm>
            <a:off x="3731905" y="6457684"/>
            <a:ext cx="4731366" cy="369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18" name="Title 1">
            <a:extLst>
              <a:ext uri="{FF2B5EF4-FFF2-40B4-BE49-F238E27FC236}">
                <a16:creationId xmlns:a16="http://schemas.microsoft.com/office/drawing/2014/main" id="{6C8581F2-E5A9-F4AD-40C9-1020897626BA}"/>
              </a:ext>
            </a:extLst>
          </p:cNvPr>
          <p:cNvSpPr txBox="1">
            <a:spLocks noGrp="1"/>
          </p:cNvSpPr>
          <p:nvPr>
            <p:ph type="title"/>
          </p:nvPr>
        </p:nvSpPr>
        <p:spPr>
          <a:xfrm>
            <a:off x="851473" y="188280"/>
            <a:ext cx="10058401" cy="1450757"/>
          </a:xfrm>
          <a:prstGeom prst="rect">
            <a:avLst/>
          </a:prstGeom>
        </p:spPr>
        <p:txBody>
          <a:bodyPr>
            <a:normAutofit/>
          </a:bodyPr>
          <a:lstStyle>
            <a:lvl1pPr>
              <a:lnSpc>
                <a:spcPct val="150000"/>
              </a:lnSpc>
              <a:defRPr spc="-100">
                <a:latin typeface="Times New Roman"/>
                <a:ea typeface="Times New Roman"/>
                <a:cs typeface="Times New Roman"/>
                <a:sym typeface="Times New Roman"/>
              </a:defRPr>
            </a:lvl1pPr>
          </a:lstStyle>
          <a:p>
            <a:r>
              <a:rPr sz="3200" b="1" dirty="0"/>
              <a:t>References</a:t>
            </a:r>
          </a:p>
        </p:txBody>
      </p:sp>
      <p:sp>
        <p:nvSpPr>
          <p:cNvPr id="319" name="Content Placeholder 2">
            <a:extLst>
              <a:ext uri="{FF2B5EF4-FFF2-40B4-BE49-F238E27FC236}">
                <a16:creationId xmlns:a16="http://schemas.microsoft.com/office/drawing/2014/main" id="{2921C551-F1C2-2654-124C-92EE68EFE635}"/>
              </a:ext>
            </a:extLst>
          </p:cNvPr>
          <p:cNvSpPr txBox="1">
            <a:spLocks noGrp="1"/>
          </p:cNvSpPr>
          <p:nvPr>
            <p:ph type="body" idx="1"/>
          </p:nvPr>
        </p:nvSpPr>
        <p:spPr>
          <a:xfrm>
            <a:off x="203914" y="1836653"/>
            <a:ext cx="11946196" cy="4024344"/>
          </a:xfrm>
          <a:prstGeom prst="rect">
            <a:avLst/>
          </a:prstGeom>
        </p:spPr>
        <p:txBody>
          <a:bodyPr>
            <a:noAutofit/>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[4]LexRAGBenchmarkingRetrieval-Augmented Generation in Multi-Turn Legal Consultation ConversationH. Li, Y . Chen, Y . Hu, Q. Ai, J. Chen, X. Yang, J. Yang, Y . Wu, Z. Liu, and Y . Liu, “</a:t>
            </a:r>
            <a:r>
              <a:rPr lang="en-IN" sz="2400" dirty="0" err="1"/>
              <a:t>LexRAG</a:t>
            </a:r>
            <a:r>
              <a:rPr lang="en-IN" sz="2400" dirty="0"/>
              <a:t>: Benchmarking Retrieval-Augmented Generation in Multi-Turn Legal Consultation Conversation,”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 </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5] Legal Chunking: Evaluating Methods for Effective Legal Text Retrieval A. F. Ferraris, D. Audrito, G. Siragusa, and A. </a:t>
            </a:r>
            <a:r>
              <a:rPr lang="en-IN" sz="2400" dirty="0" err="1"/>
              <a:t>Piovano</a:t>
            </a:r>
            <a:r>
              <a:rPr lang="en-IN" sz="2400" dirty="0"/>
              <a:t>,“Legal Chunking: Evaluating Methods for Effective Legal Text Retrieval,” 2024. </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[6] C. Cao, H. Zhu, J. Ji, Q. Sun, Z. Zhu, Y . Wu, J. Dai, Y . Yang, S. Han, and Y . Guo, “</a:t>
            </a:r>
            <a:r>
              <a:rPr lang="en-IN" sz="2400" dirty="0" err="1"/>
              <a:t>SafeLawBench</a:t>
            </a:r>
            <a:r>
              <a:rPr lang="en-IN" sz="2400" dirty="0"/>
              <a:t>: Towards Safe Alignment of Large Language Models,” 2025.</a:t>
            </a:r>
          </a:p>
        </p:txBody>
      </p:sp>
      <p:sp>
        <p:nvSpPr>
          <p:cNvPr id="320" name="Date Placeholder 3">
            <a:extLst>
              <a:ext uri="{FF2B5EF4-FFF2-40B4-BE49-F238E27FC236}">
                <a16:creationId xmlns:a16="http://schemas.microsoft.com/office/drawing/2014/main" id="{C828E0EE-9A60-D94A-C8C9-D9428370ED4F}"/>
              </a:ext>
            </a:extLst>
          </p:cNvPr>
          <p:cNvSpPr txBox="1"/>
          <p:nvPr/>
        </p:nvSpPr>
        <p:spPr>
          <a:xfrm>
            <a:off x="1143000" y="6469541"/>
            <a:ext cx="2380833" cy="3456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21" name="Slide Number Placeholder 5">
            <a:extLst>
              <a:ext uri="{FF2B5EF4-FFF2-40B4-BE49-F238E27FC236}">
                <a16:creationId xmlns:a16="http://schemas.microsoft.com/office/drawing/2014/main" id="{C45B3E9F-CD33-F195-A424-0E84A007D914}"/>
              </a:ext>
            </a:extLst>
          </p:cNvPr>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pic>
        <p:nvPicPr>
          <p:cNvPr id="322" name="Picture 6" descr="Picture 6">
            <a:extLst>
              <a:ext uri="{FF2B5EF4-FFF2-40B4-BE49-F238E27FC236}">
                <a16:creationId xmlns:a16="http://schemas.microsoft.com/office/drawing/2014/main" id="{0E74B919-F34F-E20D-0907-C60BF4027DBE}"/>
              </a:ext>
            </a:extLst>
          </p:cNvPr>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extLst>
      <p:ext uri="{BB962C8B-B14F-4D97-AF65-F5344CB8AC3E}">
        <p14:creationId xmlns:p14="http://schemas.microsoft.com/office/powerpoint/2010/main" val="286159953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25" name="Title 1"/>
          <p:cNvSpPr txBox="1">
            <a:spLocks noGrp="1"/>
          </p:cNvSpPr>
          <p:nvPr>
            <p:ph type="title"/>
          </p:nvPr>
        </p:nvSpPr>
        <p:spPr>
          <a:xfrm>
            <a:off x="851473" y="188280"/>
            <a:ext cx="10058401" cy="1450757"/>
          </a:xfrm>
          <a:prstGeom prst="rect">
            <a:avLst/>
          </a:prstGeom>
        </p:spPr>
        <p:txBody>
          <a:bodyPr>
            <a:normAutofit/>
          </a:bodyPr>
          <a:lstStyle>
            <a:lvl1pPr>
              <a:lnSpc>
                <a:spcPct val="150000"/>
              </a:lnSpc>
              <a:defRPr spc="-100">
                <a:latin typeface="Times New Roman"/>
                <a:ea typeface="Times New Roman"/>
                <a:cs typeface="Times New Roman"/>
                <a:sym typeface="Times New Roman"/>
              </a:defRPr>
            </a:lvl1pPr>
          </a:lstStyle>
          <a:p>
            <a:r>
              <a:rPr sz="3200" b="1" dirty="0"/>
              <a:t>References</a:t>
            </a:r>
          </a:p>
        </p:txBody>
      </p:sp>
      <p:sp>
        <p:nvSpPr>
          <p:cNvPr id="326" name="Content Placeholder 2"/>
          <p:cNvSpPr txBox="1">
            <a:spLocks noGrp="1"/>
          </p:cNvSpPr>
          <p:nvPr>
            <p:ph type="body" idx="1"/>
          </p:nvPr>
        </p:nvSpPr>
        <p:spPr>
          <a:xfrm>
            <a:off x="203914" y="1836653"/>
            <a:ext cx="11946196" cy="4024344"/>
          </a:xfrm>
          <a:prstGeom prst="rect">
            <a:avLst/>
          </a:prstGeom>
        </p:spPr>
        <p:txBody>
          <a:bodyPr>
            <a:noAutofit/>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[7] F. Faisal and U. Yousaf, “LEGAL-UQA: A Low-Resource Urdu-English Dataset for Legal Question Answering,” 2024.</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[8] J. Cui, M. Ning, Z. Li, B. Chen, Y . Yan, H. Li, B. Ling, Y . Tian, and L. Yuan, “</a:t>
            </a:r>
            <a:r>
              <a:rPr lang="en-IN" sz="2400" dirty="0" err="1"/>
              <a:t>Chatlaw</a:t>
            </a:r>
            <a:r>
              <a:rPr lang="en-IN" sz="2400" dirty="0"/>
              <a:t>: A Multi-Agent Collaborative Legal Assistant,” 2023</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[9] (Article from Artificial Intelligence and Law), “Enhancing legal question answering with data generation and knowledge distillation</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(Ace-Attorney),”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p:txBody>
      </p:sp>
      <p:sp>
        <p:nvSpPr>
          <p:cNvPr id="327"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28"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pic>
        <p:nvPicPr>
          <p:cNvPr id="329"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96ED4-1728-3D72-913E-11605FB9D582}"/>
            </a:ext>
          </a:extLst>
        </p:cNvPr>
        <p:cNvGrpSpPr/>
        <p:nvPr/>
      </p:nvGrpSpPr>
      <p:grpSpPr>
        <a:xfrm>
          <a:off x="0" y="0"/>
          <a:ext cx="0" cy="0"/>
          <a:chOff x="0" y="0"/>
          <a:chExt cx="0" cy="0"/>
        </a:xfrm>
      </p:grpSpPr>
      <p:sp>
        <p:nvSpPr>
          <p:cNvPr id="324" name="Footer Placeholder 4">
            <a:extLst>
              <a:ext uri="{FF2B5EF4-FFF2-40B4-BE49-F238E27FC236}">
                <a16:creationId xmlns:a16="http://schemas.microsoft.com/office/drawing/2014/main" id="{270F7A48-AEE3-AE03-C069-AD59C8F3C523}"/>
              </a:ext>
            </a:extLst>
          </p:cNvPr>
          <p:cNvSpPr txBox="1"/>
          <p:nvPr/>
        </p:nvSpPr>
        <p:spPr>
          <a:xfrm>
            <a:off x="3731905" y="6457684"/>
            <a:ext cx="4731366" cy="369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25" name="Title 1">
            <a:extLst>
              <a:ext uri="{FF2B5EF4-FFF2-40B4-BE49-F238E27FC236}">
                <a16:creationId xmlns:a16="http://schemas.microsoft.com/office/drawing/2014/main" id="{73AF7B03-8689-B72F-B51C-87E15DD023A4}"/>
              </a:ext>
            </a:extLst>
          </p:cNvPr>
          <p:cNvSpPr txBox="1">
            <a:spLocks noGrp="1"/>
          </p:cNvSpPr>
          <p:nvPr>
            <p:ph type="title"/>
          </p:nvPr>
        </p:nvSpPr>
        <p:spPr>
          <a:xfrm>
            <a:off x="851473" y="188280"/>
            <a:ext cx="10058401" cy="1450757"/>
          </a:xfrm>
          <a:prstGeom prst="rect">
            <a:avLst/>
          </a:prstGeom>
        </p:spPr>
        <p:txBody>
          <a:bodyPr>
            <a:normAutofit/>
          </a:bodyPr>
          <a:lstStyle>
            <a:lvl1pPr>
              <a:lnSpc>
                <a:spcPct val="150000"/>
              </a:lnSpc>
              <a:defRPr spc="-100">
                <a:latin typeface="Times New Roman"/>
                <a:ea typeface="Times New Roman"/>
                <a:cs typeface="Times New Roman"/>
                <a:sym typeface="Times New Roman"/>
              </a:defRPr>
            </a:lvl1pPr>
          </a:lstStyle>
          <a:p>
            <a:r>
              <a:rPr sz="3200" b="1" dirty="0"/>
              <a:t>References</a:t>
            </a:r>
          </a:p>
        </p:txBody>
      </p:sp>
      <p:sp>
        <p:nvSpPr>
          <p:cNvPr id="326" name="Content Placeholder 2">
            <a:extLst>
              <a:ext uri="{FF2B5EF4-FFF2-40B4-BE49-F238E27FC236}">
                <a16:creationId xmlns:a16="http://schemas.microsoft.com/office/drawing/2014/main" id="{7D1D5D05-88F3-5C7C-23A1-ED69E2FBD398}"/>
              </a:ext>
            </a:extLst>
          </p:cNvPr>
          <p:cNvSpPr txBox="1">
            <a:spLocks noGrp="1"/>
          </p:cNvSpPr>
          <p:nvPr>
            <p:ph type="body" idx="1"/>
          </p:nvPr>
        </p:nvSpPr>
        <p:spPr>
          <a:xfrm>
            <a:off x="203914" y="1836653"/>
            <a:ext cx="11946196" cy="4024344"/>
          </a:xfrm>
          <a:prstGeom prst="rect">
            <a:avLst/>
          </a:prstGeom>
        </p:spPr>
        <p:txBody>
          <a:bodyPr>
            <a:noAutofit/>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[10] </a:t>
            </a:r>
            <a:r>
              <a:rPr lang="en-IN" sz="2400" dirty="0" err="1"/>
              <a:t>arXiv</a:t>
            </a:r>
            <a:r>
              <a:rPr lang="en-IN" sz="2400" dirty="0"/>
              <a:t> Authors, “</a:t>
            </a:r>
            <a:r>
              <a:rPr lang="en-IN" sz="2400" dirty="0" err="1"/>
              <a:t>LegalBench</a:t>
            </a:r>
            <a:r>
              <a:rPr lang="en-IN" sz="2400" dirty="0"/>
              <a:t>-RAG: A Benchmark for Retrieval-Augmented Generation in the Legal Domain,” 2024.5] Legal Chunking: Evaluating Methods for Effective Legal Text Retrieval A. F. Ferraris, D. Audrito, G. Siragusa, and A. </a:t>
            </a:r>
            <a:r>
              <a:rPr lang="en-IN" sz="2400" dirty="0" err="1"/>
              <a:t>Piovano</a:t>
            </a:r>
            <a:r>
              <a:rPr lang="en-IN" sz="2400" dirty="0"/>
              <a:t>,“Legal Chunking: Evaluating Methods for Effective Legal Text Retrieval,” 2024.</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 </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[11] V . </a:t>
            </a:r>
            <a:r>
              <a:rPr lang="en-IN" sz="2400" dirty="0" err="1"/>
              <a:t>Vishnuprabha</a:t>
            </a:r>
            <a:r>
              <a:rPr lang="en-IN" sz="2400" dirty="0"/>
              <a:t>, M. D. Viswanathan, </a:t>
            </a:r>
            <a:r>
              <a:rPr lang="en-IN" sz="2400" dirty="0" err="1"/>
              <a:t>R.Rajesh</a:t>
            </a:r>
            <a:r>
              <a:rPr lang="en-IN" sz="2400" dirty="0"/>
              <a:t>, and V . A. </a:t>
            </a:r>
            <a:r>
              <a:rPr lang="en-IN" sz="2400" dirty="0" err="1"/>
              <a:t>Pillai,“Augmented</a:t>
            </a:r>
            <a:r>
              <a:rPr lang="en-IN" sz="2400" dirty="0"/>
              <a:t> Question-guided Retrieval (</a:t>
            </a:r>
            <a:r>
              <a:rPr lang="en-IN" sz="2400" dirty="0" err="1"/>
              <a:t>AQgR</a:t>
            </a:r>
            <a:r>
              <a:rPr lang="en-IN" sz="2400" dirty="0"/>
              <a:t>) of </a:t>
            </a:r>
            <a:r>
              <a:rPr lang="en-IN" sz="2400" dirty="0" err="1"/>
              <a:t>indian</a:t>
            </a:r>
            <a:r>
              <a:rPr lang="en-IN" sz="2400" dirty="0"/>
              <a:t> Case Law with LLM, RAG, and Structured Summaries,”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lang="en-IN" sz="2400" dirty="0"/>
              <a:t>[12] M. Zhang, N. Zhao, J. Qin, Q. Xu, K. Pan, </a:t>
            </a:r>
            <a:r>
              <a:rPr lang="en-IN" sz="2400" dirty="0" err="1"/>
              <a:t>andT</a:t>
            </a:r>
            <a:r>
              <a:rPr lang="en-IN" sz="2400" dirty="0"/>
              <a:t>. Luo, “An Integrated Framework of Prompt Engineering and Multidimensional Knowledge Graphs for Legal. Dispute Analysis,” 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lang="en-IN" sz="2400" dirty="0"/>
          </a:p>
        </p:txBody>
      </p:sp>
      <p:sp>
        <p:nvSpPr>
          <p:cNvPr id="327" name="Date Placeholder 3">
            <a:extLst>
              <a:ext uri="{FF2B5EF4-FFF2-40B4-BE49-F238E27FC236}">
                <a16:creationId xmlns:a16="http://schemas.microsoft.com/office/drawing/2014/main" id="{15AC3D20-5D3C-AA03-F593-C64A1F216C97}"/>
              </a:ext>
            </a:extLst>
          </p:cNvPr>
          <p:cNvSpPr txBox="1"/>
          <p:nvPr/>
        </p:nvSpPr>
        <p:spPr>
          <a:xfrm>
            <a:off x="1143000" y="6469541"/>
            <a:ext cx="2380833" cy="34561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28" name="Slide Number Placeholder 5">
            <a:extLst>
              <a:ext uri="{FF2B5EF4-FFF2-40B4-BE49-F238E27FC236}">
                <a16:creationId xmlns:a16="http://schemas.microsoft.com/office/drawing/2014/main" id="{A0A73062-9C0B-5860-8031-C1B72FDBAB47}"/>
              </a:ext>
            </a:extLst>
          </p:cNvPr>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pic>
        <p:nvPicPr>
          <p:cNvPr id="329" name="Picture 6" descr="Picture 6">
            <a:extLst>
              <a:ext uri="{FF2B5EF4-FFF2-40B4-BE49-F238E27FC236}">
                <a16:creationId xmlns:a16="http://schemas.microsoft.com/office/drawing/2014/main" id="{605C0543-275A-1897-94E0-ED8146631202}"/>
              </a:ext>
            </a:extLst>
          </p:cNvPr>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extLst>
      <p:ext uri="{BB962C8B-B14F-4D97-AF65-F5344CB8AC3E}">
        <p14:creationId xmlns:p14="http://schemas.microsoft.com/office/powerpoint/2010/main" val="14856144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32" name="Title 1"/>
          <p:cNvSpPr txBox="1">
            <a:spLocks noGrp="1"/>
          </p:cNvSpPr>
          <p:nvPr>
            <p:ph type="title"/>
          </p:nvPr>
        </p:nvSpPr>
        <p:spPr>
          <a:xfrm>
            <a:off x="851473" y="188280"/>
            <a:ext cx="10058401" cy="1450757"/>
          </a:xfrm>
          <a:prstGeom prst="rect">
            <a:avLst/>
          </a:prstGeom>
        </p:spPr>
        <p:txBody>
          <a:bodyPr>
            <a:normAutofit/>
          </a:bodyPr>
          <a:lstStyle>
            <a:lvl1pPr>
              <a:lnSpc>
                <a:spcPct val="150000"/>
              </a:lnSpc>
              <a:defRPr spc="-100">
                <a:latin typeface="Times New Roman"/>
                <a:ea typeface="Times New Roman"/>
                <a:cs typeface="Times New Roman"/>
                <a:sym typeface="Times New Roman"/>
              </a:defRPr>
            </a:lvl1pPr>
          </a:lstStyle>
          <a:p>
            <a:r>
              <a:rPr sz="3200" b="1" dirty="0"/>
              <a:t>References</a:t>
            </a:r>
          </a:p>
        </p:txBody>
      </p:sp>
      <p:sp>
        <p:nvSpPr>
          <p:cNvPr id="333" name="Content Placeholder 2"/>
          <p:cNvSpPr txBox="1">
            <a:spLocks noGrp="1"/>
          </p:cNvSpPr>
          <p:nvPr>
            <p:ph type="body" idx="1"/>
          </p:nvPr>
        </p:nvSpPr>
        <p:spPr>
          <a:xfrm>
            <a:off x="122902" y="1836653"/>
            <a:ext cx="11946196" cy="4024344"/>
          </a:xfrm>
          <a:prstGeom prst="rect">
            <a:avLst/>
          </a:prstGeom>
        </p:spPr>
        <p:txBody>
          <a:bodyPr>
            <a:noAutofit/>
          </a:bodyPr>
          <a:lstStyle/>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2400" dirty="0"/>
              <a:t>[13] H. Zhong, C. Xiao, C. Tu, T. Zhang, Z. Liu, and M. Sun, “JEC-QA: A Legal-Domain Question Answering Dataset,” 2020.</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2400" dirty="0"/>
              <a:t>[14] Author(s) not specified, “</a:t>
            </a:r>
            <a:r>
              <a:rPr sz="2400" dirty="0" err="1"/>
              <a:t>cLegal</a:t>
            </a:r>
            <a:r>
              <a:rPr sz="2400" dirty="0"/>
              <a:t>-QA: Chinese Legal QA via NLG Methods,” 2024/2025.</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2400" dirty="0"/>
              <a:t>[15] B. Liu, Z. Zhu, Q. Ai, Y . Liu, and Y . Wu, “</a:t>
            </a:r>
            <a:r>
              <a:rPr sz="2400" dirty="0" err="1"/>
              <a:t>LeDQA</a:t>
            </a:r>
            <a:r>
              <a:rPr sz="2400" dirty="0"/>
              <a:t>: Chinese Legal Case Document QA Dataset,” 2024.</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2400" dirty="0"/>
              <a:t>[16] Chen et al., “EQUALS: Legal QA via Reading Chinese Laws,” 2023.</a:t>
            </a:r>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endParaRPr sz="2400" dirty="0"/>
          </a:p>
          <a:p>
            <a:pPr marL="0" indent="0" defTabSz="12700">
              <a:lnSpc>
                <a:spcPct val="100000"/>
              </a:lnSpc>
              <a:spcBef>
                <a:spcPts val="0"/>
              </a:spcBef>
              <a:buSz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500">
                <a:solidFill>
                  <a:srgbClr val="1B1C1D"/>
                </a:solidFill>
                <a:latin typeface="Times New Roman"/>
                <a:ea typeface="Times New Roman"/>
                <a:cs typeface="Times New Roman"/>
                <a:sym typeface="Times New Roman"/>
              </a:defRPr>
            </a:pPr>
            <a:r>
              <a:rPr sz="2400" dirty="0"/>
              <a:t>[17] R. Kalra, Z. Wu, and A. Gulley, “</a:t>
            </a:r>
            <a:r>
              <a:rPr sz="2400" dirty="0" err="1"/>
              <a:t>HyPA</a:t>
            </a:r>
            <a:r>
              <a:rPr sz="2400" dirty="0"/>
              <a:t>-RAG: Hybrid Parameter Adaptive RAG for AI Legal/Policy,” 2024.</a:t>
            </a:r>
          </a:p>
        </p:txBody>
      </p:sp>
      <p:sp>
        <p:nvSpPr>
          <p:cNvPr id="334"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35"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p:pic>
        <p:nvPicPr>
          <p:cNvPr id="336"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pic>
        <p:nvPicPr>
          <p:cNvPr id="339" name="Picture 2" descr="Picture 2"/>
          <p:cNvPicPr>
            <a:picLocks noChangeAspect="1"/>
          </p:cNvPicPr>
          <p:nvPr/>
        </p:nvPicPr>
        <p:blipFill>
          <a:blip r:embed="rId2"/>
          <a:stretch>
            <a:fillRect/>
          </a:stretch>
        </p:blipFill>
        <p:spPr>
          <a:xfrm>
            <a:off x="4221162" y="2428875"/>
            <a:ext cx="3810002" cy="2857500"/>
          </a:xfrm>
          <a:prstGeom prst="rect">
            <a:avLst/>
          </a:prstGeom>
          <a:ln w="12700">
            <a:miter lim="400000"/>
          </a:ln>
        </p:spPr>
      </p:pic>
      <p:sp>
        <p:nvSpPr>
          <p:cNvPr id="340"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41"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30</a:t>
            </a:fld>
            <a:endParaRPr/>
          </a:p>
        </p:txBody>
      </p:sp>
      <p:pic>
        <p:nvPicPr>
          <p:cNvPr id="342" name="Picture 6" descr="Picture 6"/>
          <p:cNvPicPr>
            <a:picLocks noChangeAspect="1"/>
          </p:cNvPicPr>
          <p:nvPr/>
        </p:nvPicPr>
        <p:blipFill>
          <a:blip r:embed="rId3"/>
          <a:stretch>
            <a:fillRect/>
          </a:stretch>
        </p:blipFill>
        <p:spPr>
          <a:xfrm>
            <a:off x="9619988" y="286603"/>
            <a:ext cx="1535693" cy="1450757"/>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Footer Placeholder 4"/>
          <p:cNvSpPr txBox="1"/>
          <p:nvPr/>
        </p:nvSpPr>
        <p:spPr>
          <a:xfrm>
            <a:off x="3731905" y="6457684"/>
            <a:ext cx="4731366" cy="369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lgn="ctr">
              <a:defRPr sz="900" b="1" cap="all">
                <a:solidFill>
                  <a:srgbClr val="FFFFFF"/>
                </a:solidFill>
                <a:latin typeface="+mn-lt"/>
                <a:ea typeface="+mn-ea"/>
                <a:cs typeface="+mn-cs"/>
                <a:sym typeface="Calibri"/>
              </a:defRPr>
            </a:pPr>
            <a:r>
              <a:rPr dirty="0"/>
              <a:t>Department of </a:t>
            </a:r>
            <a:r>
              <a:rPr lang="en-US" dirty="0"/>
              <a:t>COMPUTER SCIENCE ENGINEERING (DATA SCIENCE)</a:t>
            </a:r>
            <a:endParaRPr dirty="0"/>
          </a:p>
          <a:p>
            <a:pPr algn="ctr">
              <a:defRPr sz="900" b="1" cap="all">
                <a:solidFill>
                  <a:srgbClr val="FFFFFF"/>
                </a:solidFill>
                <a:latin typeface="+mn-lt"/>
                <a:ea typeface="+mn-ea"/>
                <a:cs typeface="+mn-cs"/>
                <a:sym typeface="Calibri"/>
              </a:defRPr>
            </a:pPr>
            <a:r>
              <a:rPr dirty="0"/>
              <a:t>Acharya Institute of technology </a:t>
            </a:r>
          </a:p>
        </p:txBody>
      </p:sp>
      <p:sp>
        <p:nvSpPr>
          <p:cNvPr id="345" name="Content Placeholder 2"/>
          <p:cNvSpPr txBox="1">
            <a:spLocks noGrp="1"/>
          </p:cNvSpPr>
          <p:nvPr>
            <p:ph type="body" idx="1"/>
          </p:nvPr>
        </p:nvSpPr>
        <p:spPr>
          <a:xfrm>
            <a:off x="1097280" y="1845734"/>
            <a:ext cx="10058401" cy="4023360"/>
          </a:xfrm>
          <a:prstGeom prst="rect">
            <a:avLst/>
          </a:prstGeom>
        </p:spPr>
        <p:txBody>
          <a:bodyPr/>
          <a:lstStyle/>
          <a:p>
            <a:pPr algn="ctr">
              <a:defRPr sz="6600">
                <a:solidFill>
                  <a:srgbClr val="8E4221"/>
                </a:solidFill>
                <a:effectLst>
                  <a:outerShdw blurRad="38100" dist="38100" dir="2700000" rotWithShape="0">
                    <a:srgbClr val="000000">
                      <a:alpha val="43137"/>
                    </a:srgbClr>
                  </a:outerShdw>
                </a:effectLst>
                <a:latin typeface="Edwardian Script ITC"/>
                <a:ea typeface="Edwardian Script ITC"/>
                <a:cs typeface="Edwardian Script ITC"/>
                <a:sym typeface="Edwardian Script ITC"/>
              </a:defRPr>
            </a:pPr>
            <a:r>
              <a:t>  </a:t>
            </a:r>
          </a:p>
          <a:p>
            <a:pPr algn="ctr">
              <a:defRPr sz="6600">
                <a:solidFill>
                  <a:srgbClr val="8E4221"/>
                </a:solidFill>
                <a:effectLst>
                  <a:outerShdw blurRad="38100" dist="38100" dir="2700000" rotWithShape="0">
                    <a:srgbClr val="000000">
                      <a:alpha val="43137"/>
                    </a:srgbClr>
                  </a:outerShdw>
                </a:effectLst>
                <a:latin typeface="Edwardian Script ITC"/>
                <a:ea typeface="Edwardian Script ITC"/>
                <a:cs typeface="Edwardian Script ITC"/>
                <a:sym typeface="Edwardian Script ITC"/>
              </a:defRPr>
            </a:pPr>
            <a:r>
              <a:t>Thank you</a:t>
            </a:r>
          </a:p>
        </p:txBody>
      </p:sp>
      <p:sp>
        <p:nvSpPr>
          <p:cNvPr id="346" name="Date Placeholder 3"/>
          <p:cNvSpPr txBox="1"/>
          <p:nvPr/>
        </p:nvSpPr>
        <p:spPr>
          <a:xfrm>
            <a:off x="1143000" y="6469541"/>
            <a:ext cx="2380833" cy="3456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8" tIns="45718" rIns="45718" bIns="45718" anchor="ctr">
            <a:spAutoFit/>
          </a:bodyPr>
          <a:lstStyle/>
          <a:p>
            <a:pPr>
              <a:defRPr sz="900">
                <a:solidFill>
                  <a:srgbClr val="FFFFFF"/>
                </a:solidFill>
                <a:latin typeface="+mn-lt"/>
                <a:ea typeface="+mn-ea"/>
                <a:cs typeface="+mn-cs"/>
                <a:sym typeface="Calibri"/>
              </a:defRPr>
            </a:pPr>
            <a:endParaRPr/>
          </a:p>
          <a:p>
            <a:pPr>
              <a:defRPr sz="900">
                <a:solidFill>
                  <a:srgbClr val="FFFFFF"/>
                </a:solidFill>
                <a:latin typeface="+mn-lt"/>
                <a:ea typeface="+mn-ea"/>
                <a:cs typeface="+mn-cs"/>
                <a:sym typeface="Calibri"/>
              </a:defRPr>
            </a:pPr>
            <a:r>
              <a:t>November 17, 2025</a:t>
            </a:r>
          </a:p>
        </p:txBody>
      </p:sp>
      <p:sp>
        <p:nvSpPr>
          <p:cNvPr id="347" name="Slide Number Placeholder 5"/>
          <p:cNvSpPr txBox="1">
            <a:spLocks noGrp="1"/>
          </p:cNvSpPr>
          <p:nvPr>
            <p:ph type="sldNum" sz="quarter" idx="4294967295"/>
          </p:nvPr>
        </p:nvSpPr>
        <p:spPr>
          <a:xfrm>
            <a:off x="10979605" y="6528092"/>
            <a:ext cx="232875" cy="228509"/>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pic>
        <p:nvPicPr>
          <p:cNvPr id="348" name="Picture 6" descr="Picture 6"/>
          <p:cNvPicPr>
            <a:picLocks noChangeAspect="1"/>
          </p:cNvPicPr>
          <p:nvPr/>
        </p:nvPicPr>
        <p:blipFill>
          <a:blip r:embed="rId2"/>
          <a:stretch>
            <a:fillRect/>
          </a:stretch>
        </p:blipFill>
        <p:spPr>
          <a:xfrm>
            <a:off x="9619988" y="286603"/>
            <a:ext cx="1535693" cy="1450757"/>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Helvetica"/>
        <a:ea typeface="Helvetica"/>
        <a:cs typeface="Helvetica"/>
      </a:majorFont>
      <a:minorFont>
        <a:latin typeface="Calibri"/>
        <a:ea typeface="Calibri"/>
        <a:cs typeface="Calibri"/>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5400" dir="2700000" rotWithShape="0">
            <a:srgbClr val="000000">
              <a:alpha val="60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5400" dir="2700000" rotWithShape="0">
            <a:srgbClr val="000000">
              <a:alpha val="6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A7A7A7"/>
      </a:dk2>
      <a:lt2>
        <a:srgbClr val="535353"/>
      </a:lt2>
      <a:accent1>
        <a:srgbClr val="E48312"/>
      </a:accent1>
      <a:accent2>
        <a:srgbClr val="BD582C"/>
      </a:accent2>
      <a:accent3>
        <a:srgbClr val="865640"/>
      </a:accent3>
      <a:accent4>
        <a:srgbClr val="9B8357"/>
      </a:accent4>
      <a:accent5>
        <a:srgbClr val="C2BC80"/>
      </a:accent5>
      <a:accent6>
        <a:srgbClr val="94A088"/>
      </a:accent6>
      <a:hlink>
        <a:srgbClr val="0000FF"/>
      </a:hlink>
      <a:folHlink>
        <a:srgbClr val="FF00FF"/>
      </a:folHlink>
    </a:clrScheme>
    <a:fontScheme name="Retrospect">
      <a:majorFont>
        <a:latin typeface="Helvetica"/>
        <a:ea typeface="Helvetica"/>
        <a:cs typeface="Helvetica"/>
      </a:majorFont>
      <a:minorFont>
        <a:latin typeface="Calibri"/>
        <a:ea typeface="Calibri"/>
        <a:cs typeface="Calibri"/>
      </a:minorFont>
    </a:fontScheme>
    <a:fmtScheme name="Retrosp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5400" dir="2700000" rotWithShape="0">
            <a:srgbClr val="000000">
              <a:alpha val="60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5400" dir="2700000" rotWithShape="0">
            <a:srgbClr val="000000">
              <a:alpha val="60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439</TotalTime>
  <Words>3165</Words>
  <Application>Microsoft Office PowerPoint</Application>
  <PresentationFormat>Widescreen</PresentationFormat>
  <Paragraphs>422</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Arial</vt:lpstr>
      <vt:lpstr>Calibri</vt:lpstr>
      <vt:lpstr>Calibri Light</vt:lpstr>
      <vt:lpstr>Carlito</vt:lpstr>
      <vt:lpstr>DIN Condensed Bold</vt:lpstr>
      <vt:lpstr>Helvetica</vt:lpstr>
      <vt:lpstr>Times New Roman</vt:lpstr>
      <vt:lpstr>Times Roman</vt:lpstr>
      <vt:lpstr>Retrospect</vt:lpstr>
      <vt:lpstr>PowerPoint Presentation</vt:lpstr>
      <vt:lpstr>Content</vt:lpstr>
      <vt:lpstr>Abstract</vt:lpstr>
      <vt:lpstr>Introduction</vt:lpstr>
      <vt:lpstr>Literature Survey</vt:lpstr>
      <vt:lpstr>Literature Survey</vt:lpstr>
      <vt:lpstr> Flow Diagram</vt:lpstr>
      <vt:lpstr>System Architecture                             </vt:lpstr>
      <vt:lpstr>System Architecture                             </vt:lpstr>
      <vt:lpstr>System Architecture                         </vt:lpstr>
      <vt:lpstr>Methodology</vt:lpstr>
      <vt:lpstr>Methodology                                     </vt:lpstr>
      <vt:lpstr>Methodology                                      </vt:lpstr>
      <vt:lpstr>Methodology                                     </vt:lpstr>
      <vt:lpstr>System Testing</vt:lpstr>
      <vt:lpstr>System Testing</vt:lpstr>
      <vt:lpstr>System Testing</vt:lpstr>
      <vt:lpstr>System Testing                                  </vt:lpstr>
      <vt:lpstr>Demonstration of Prototype</vt:lpstr>
      <vt:lpstr> Results &amp; Discussion  Performance Metrics &amp; Evaluation</vt:lpstr>
      <vt:lpstr>Results &amp; Discussion</vt:lpstr>
      <vt:lpstr>Results &amp; Discussion</vt:lpstr>
      <vt:lpstr>Future Works</vt:lpstr>
      <vt:lpstr>Conclusion</vt:lpstr>
      <vt:lpstr>References</vt:lpstr>
      <vt:lpstr>References</vt:lpstr>
      <vt:lpstr>References</vt:lpstr>
      <vt:lpstr>References</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rishikraj gogikar</dc:creator>
  <cp:lastModifiedBy>Amarthya .T</cp:lastModifiedBy>
  <cp:revision>4</cp:revision>
  <dcterms:modified xsi:type="dcterms:W3CDTF">2025-11-21T15:42:37Z</dcterms:modified>
</cp:coreProperties>
</file>